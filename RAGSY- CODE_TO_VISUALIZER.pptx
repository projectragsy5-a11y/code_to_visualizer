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62" r:id="rId4"/>
    <p:sldId id="263" r:id="rId5"/>
    <p:sldId id="272" r:id="rId6"/>
    <p:sldId id="273" r:id="rId7"/>
    <p:sldId id="274" r:id="rId8"/>
    <p:sldId id="266" r:id="rId9"/>
    <p:sldId id="259" r:id="rId10"/>
    <p:sldId id="261" r:id="rId11"/>
    <p:sldId id="276" r:id="rId12"/>
    <p:sldId id="275" r:id="rId13"/>
    <p:sldId id="271" r:id="rId14"/>
  </p:sldIdLst>
  <p:sldSz cx="14630400" cy="8229600"/>
  <p:notesSz cx="8229600" cy="14630400"/>
  <p:embeddedFontLst>
    <p:embeddedFont>
      <p:font typeface="Abadi" panose="020B0604020104020204" pitchFamily="34" charset="0"/>
      <p:regular r:id="rId17"/>
      <p:bold r:id="rId18"/>
      <p:italic r:id="rId19"/>
      <p:boldItalic r:id="rId20"/>
    </p:embeddedFont>
    <p:embeddedFont>
      <p:font typeface="Garamond" panose="02020404030301010803" pitchFamily="18" charset="0"/>
      <p:regular r:id="rId21"/>
      <p:bold r:id="rId22"/>
      <p:italic r:id="rId23"/>
    </p:embeddedFont>
    <p:embeddedFont>
      <p:font typeface="Lato Bold" panose="020B0604020202020204" charset="0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FF7"/>
    <a:srgbClr val="D2DEEF"/>
    <a:srgbClr val="EFEC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721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-222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BC209F-BD4C-6359-B964-E80525FD5FD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rga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F795A-38A3-9B98-894F-9570CC580D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13CE3-D9A5-4051-8901-5CD2DD1DC6DE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CB9BE0-1B30-CA57-D1AE-03B993A2596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A406-F6E8-0910-5EB2-C9E643C7F0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F01EF-C7EA-47FA-A004-6D97CAE59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99797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794828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346836"/>
            <a:ext cx="1243584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90B17-B3D0-4022-95D4-B9C033A3C720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07716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A201D-14C3-4C38-B41B-8D6252F0F146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20992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89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59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/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1F29-1161-47C1-A61E-689E17E1CAE0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9630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62292-377F-49B2-8470-7E3D28AF7566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236261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3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8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8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8D415-5EB0-4A72-984A-5089030DE15C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9402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9BADF-6BB7-440D-A250-8DD22666F1C2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28428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B072C-AC10-4AF0-A92F-C561FACC9C58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644952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3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6B715-78BF-4287-A4F1-D3A5A65928D2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0147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3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82772-5ADA-4761-A66E-053028810C34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7797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E0BCA-E093-423A-9BDB-416AA5FC6C30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51924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66BDD-EB0F-4675-B3D0-A20C14085CB3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741597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58ADBD-BDA6-46B4-936F-27AB96CECF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0720" y="7469506"/>
            <a:ext cx="2539478" cy="4247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fld id="{DAC5ACEC-7CDE-4B09-A26F-6C14684A3C80}" type="datetime4">
              <a:rPr lang="en-IN" sz="2160" smtClean="0">
                <a:solidFill>
                  <a:prstClr val="black"/>
                </a:solidFill>
              </a:rPr>
              <a:pPr eaLnBrk="1" hangingPunct="1">
                <a:defRPr/>
              </a:pPr>
              <a:t>25 April 2026</a:t>
            </a:fld>
            <a:endParaRPr lang="en-IN" sz="216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34254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1777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4645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00870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20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4363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0611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3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3E87F-C9C4-4E66-8E56-0E2CC44C954B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25-Apr-26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3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3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810" y="8073386"/>
            <a:ext cx="14203679" cy="15621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4468376" y="0"/>
            <a:ext cx="162025" cy="82296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" y="0"/>
            <a:ext cx="162024" cy="8229600"/>
          </a:xfrm>
          <a:prstGeom prst="rect">
            <a:avLst/>
          </a:prstGeom>
          <a:solidFill>
            <a:srgbClr val="0089D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3913" y="3"/>
            <a:ext cx="14206488" cy="186690"/>
          </a:xfrm>
          <a:prstGeom prst="rect">
            <a:avLst/>
          </a:prstGeom>
          <a:solidFill>
            <a:srgbClr val="0089D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2" name="Pentagon 11"/>
          <p:cNvSpPr/>
          <p:nvPr/>
        </p:nvSpPr>
        <p:spPr>
          <a:xfrm rot="5400000">
            <a:off x="62866" y="-62865"/>
            <a:ext cx="438152" cy="563884"/>
          </a:xfrm>
          <a:prstGeom prst="homePlate">
            <a:avLst/>
          </a:prstGeom>
          <a:solidFill>
            <a:schemeClr val="accent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3" name="Pentagon 12"/>
          <p:cNvSpPr/>
          <p:nvPr/>
        </p:nvSpPr>
        <p:spPr>
          <a:xfrm rot="16200000" flipV="1">
            <a:off x="14129384" y="7740016"/>
            <a:ext cx="438152" cy="563884"/>
          </a:xfrm>
          <a:prstGeom prst="homePlate">
            <a:avLst/>
          </a:prstGeom>
          <a:solidFill>
            <a:srgbClr val="0089D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cxnSp>
        <p:nvCxnSpPr>
          <p:cNvPr id="14" name="Straight Connector 13"/>
          <p:cNvCxnSpPr/>
          <p:nvPr/>
        </p:nvCxnSpPr>
        <p:spPr>
          <a:xfrm>
            <a:off x="651394" y="1506137"/>
            <a:ext cx="1322458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F:\F\abdesktop\Logo_NTTF_2019\NTTF Logo_png.png">
            <a:extLst>
              <a:ext uri="{FF2B5EF4-FFF2-40B4-BE49-F238E27FC236}">
                <a16:creationId xmlns:a16="http://schemas.microsoft.com/office/drawing/2014/main" id="{E4EB309A-98E3-9B48-B606-7F9D4FAE3B73}"/>
              </a:ext>
            </a:extLst>
          </p:cNvPr>
          <p:cNvPicPr/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6502" y="284080"/>
            <a:ext cx="3421957" cy="100677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1638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9" r:id="rId18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Tx/>
        <a:buBlip>
          <a:blip r:embed="rId21"/>
        </a:buBlip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99921" y="1724547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u="sng" dirty="0">
                <a:latin typeface="Abadi" panose="020B0604020104020204" pitchFamily="34" charset="0"/>
              </a:rPr>
              <a:t>RAGSY-CODE TO VISUALIZER</a:t>
            </a:r>
          </a:p>
        </p:txBody>
      </p:sp>
      <p:sp>
        <p:nvSpPr>
          <p:cNvPr id="4" name="Text 1"/>
          <p:cNvSpPr/>
          <p:nvPr/>
        </p:nvSpPr>
        <p:spPr>
          <a:xfrm>
            <a:off x="3299922" y="2820233"/>
            <a:ext cx="7556421" cy="2589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Presentation By :</a:t>
            </a:r>
          </a:p>
          <a:p>
            <a:pPr>
              <a:lnSpc>
                <a:spcPts val="2850"/>
              </a:lnSpc>
            </a:pPr>
            <a:endParaRPr lang="en-US" sz="2400" dirty="0">
              <a:solidFill>
                <a:srgbClr val="4A4A45"/>
              </a:solidFill>
              <a:latin typeface="Lato Bold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RANJANBABU .V            :  NEC0823004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YOGESH .S             	        :  NEC0823014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SHWETHA .A                   :  NEC0823029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GOUTHAM .S                   :  NEC0823105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AKLIMA BEGUM SARA :  NEC0823115</a:t>
            </a:r>
          </a:p>
          <a:p>
            <a:pPr>
              <a:lnSpc>
                <a:spcPts val="2850"/>
              </a:lnSpc>
            </a:pPr>
            <a:endParaRPr lang="en-US" sz="2400" dirty="0">
              <a:solidFill>
                <a:srgbClr val="4A4A45"/>
              </a:solidFill>
              <a:latin typeface="Lato Bold"/>
              <a:ea typeface="Lato" pitchFamily="34" charset="-122"/>
              <a:cs typeface="Lato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4E740A5C-FA20-AF02-5109-8D2265192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032933"/>
            <a:ext cx="12618720" cy="423334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INTRODUCTION</a:t>
            </a:r>
            <a:endParaRPr lang="en-IN" sz="3600" b="1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BB09B92-A0F5-5FE4-15E9-C3BBC4F08E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750483"/>
            <a:ext cx="12618720" cy="522160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latin typeface="Abadi" panose="020B0604020104020204" pitchFamily="34" charset="0"/>
              </a:rPr>
              <a:t>The </a:t>
            </a:r>
            <a:r>
              <a:rPr lang="en-US" sz="3200" i="1" dirty="0">
                <a:latin typeface="Abadi" panose="020B0604020104020204" pitchFamily="34" charset="0"/>
              </a:rPr>
              <a:t>Code to Visualizer (</a:t>
            </a:r>
            <a:r>
              <a:rPr lang="en-US" sz="3200" i="1" dirty="0" err="1">
                <a:latin typeface="Abadi" panose="020B0604020104020204" pitchFamily="34" charset="0"/>
              </a:rPr>
              <a:t>Ragsy</a:t>
            </a:r>
            <a:r>
              <a:rPr lang="en-US" sz="3200" i="1" dirty="0">
                <a:latin typeface="Abadi" panose="020B0604020104020204" pitchFamily="34" charset="0"/>
              </a:rPr>
              <a:t>)</a:t>
            </a:r>
            <a:r>
              <a:rPr lang="en-US" sz="3200" dirty="0">
                <a:latin typeface="Abadi" panose="020B0604020104020204" pitchFamily="34" charset="0"/>
              </a:rPr>
              <a:t> is a web-based application that converts Programming language code into interactive flowcharts to simplify understanding of program logic.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latin typeface="Abadi" panose="020B0604020104020204" pitchFamily="34" charset="0"/>
              </a:rPr>
              <a:t>It helps the users to visualize execution flow easily, making learning and debugging more efficient.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latin typeface="Abadi" panose="020B0604020104020204" pitchFamily="34" charset="0"/>
              </a:rPr>
              <a:t>The system also includes secure authentication and activity tracking for a better user experience.</a:t>
            </a:r>
            <a:endParaRPr lang="en-IN" sz="3200"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34">
            <a:extLst>
              <a:ext uri="{FF2B5EF4-FFF2-40B4-BE49-F238E27FC236}">
                <a16:creationId xmlns:a16="http://schemas.microsoft.com/office/drawing/2014/main" id="{C9F2BBDD-7D81-11C9-AA11-3356D97D3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100667"/>
            <a:ext cx="12618720" cy="355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FEASIBILITY STUDY</a:t>
            </a:r>
            <a:endParaRPr lang="en-IN" sz="3600" b="1" dirty="0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444CEF75-67F2-5704-9D1A-458C878F7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733550"/>
            <a:ext cx="12618720" cy="522160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Technical Feasibility</a:t>
            </a:r>
            <a:endParaRPr lang="en-US" u="sng" dirty="0"/>
          </a:p>
          <a:p>
            <a:r>
              <a:rPr lang="en-US" sz="2800" dirty="0"/>
              <a:t>Built using modern technologies (React, APIs, Flowchart libraries)</a:t>
            </a:r>
          </a:p>
          <a:p>
            <a:r>
              <a:rPr lang="en-US" sz="2800" dirty="0"/>
              <a:t>Easy to develop, maintain, and scale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</a:t>
            </a:r>
            <a:r>
              <a:rPr lang="en-US" b="1" u="sng" dirty="0"/>
              <a:t>Economic Feasibility</a:t>
            </a:r>
            <a:endParaRPr lang="en-US" dirty="0"/>
          </a:p>
          <a:p>
            <a:r>
              <a:rPr lang="en-US" sz="2800" dirty="0"/>
              <a:t>No need for expensive hardware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Operational Feasibility</a:t>
            </a:r>
            <a:endParaRPr lang="en-US" u="sng" dirty="0"/>
          </a:p>
          <a:p>
            <a:r>
              <a:rPr lang="en-US" sz="2800" dirty="0"/>
              <a:t>Simple and user-friendly interface</a:t>
            </a:r>
          </a:p>
          <a:p>
            <a:pPr marL="0" indent="0">
              <a:buNone/>
            </a:pPr>
            <a:endParaRPr lang="en-IN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64908197-9111-1368-06A9-F6F07FB74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999067"/>
            <a:ext cx="12618720" cy="5080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EXSISTING SYSTEM AND DISADVANTAGES</a:t>
            </a:r>
            <a:endParaRPr lang="en-IN" sz="3600" b="1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2995C34-3A82-AE31-B470-C83E1D727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659467"/>
            <a:ext cx="12618720" cy="575288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Existing System:</a:t>
            </a:r>
          </a:p>
          <a:p>
            <a:r>
              <a:rPr lang="en-US" sz="2800" dirty="0"/>
              <a:t>Manual flowchart drawing</a:t>
            </a:r>
          </a:p>
          <a:p>
            <a:r>
              <a:rPr lang="en-US" sz="2800" dirty="0"/>
              <a:t>Static diagram tools</a:t>
            </a:r>
          </a:p>
          <a:p>
            <a:r>
              <a:rPr lang="en-US" sz="2800" dirty="0"/>
              <a:t>No automation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Disadvantages:</a:t>
            </a:r>
          </a:p>
          <a:p>
            <a:r>
              <a:rPr lang="en-US" sz="2800" dirty="0"/>
              <a:t>Time-consuming</a:t>
            </a:r>
          </a:p>
          <a:p>
            <a:r>
              <a:rPr lang="en-US" sz="2800" dirty="0"/>
              <a:t>Error </a:t>
            </a:r>
            <a:r>
              <a:rPr lang="en-US" sz="2800" dirty="0" err="1"/>
              <a:t>occurence</a:t>
            </a:r>
            <a:endParaRPr lang="en-US" sz="2800" dirty="0"/>
          </a:p>
          <a:p>
            <a:r>
              <a:rPr lang="en-US" sz="2800" dirty="0"/>
              <a:t>No real-time visualization</a:t>
            </a:r>
          </a:p>
          <a:p>
            <a:r>
              <a:rPr lang="en-US" sz="2800" dirty="0"/>
              <a:t>No integration with code</a:t>
            </a:r>
          </a:p>
          <a:p>
            <a:pPr marL="0" indent="0"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54F89-F5A5-8B14-B110-C7244A633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982133"/>
            <a:ext cx="12618720" cy="524934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PROPOSED SYSTEM AND DISADVANTAGES</a:t>
            </a:r>
            <a:endParaRPr lang="en-IN" sz="36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EEB0F-ED04-0B2F-E302-41F9B68B8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640" y="1665816"/>
            <a:ext cx="12618720" cy="5221606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4000" b="1" u="sng" dirty="0"/>
              <a:t>Proposed System:</a:t>
            </a:r>
          </a:p>
          <a:p>
            <a:r>
              <a:rPr lang="en-IN" sz="3300" dirty="0"/>
              <a:t> </a:t>
            </a:r>
            <a:r>
              <a:rPr lang="en-IN" sz="3300" b="1" dirty="0"/>
              <a:t>code → flowchart conversion</a:t>
            </a:r>
            <a:endParaRPr lang="en-IN" sz="3300" dirty="0"/>
          </a:p>
          <a:p>
            <a:r>
              <a:rPr lang="en-IN" sz="3300" dirty="0"/>
              <a:t>Interactive visualization</a:t>
            </a:r>
          </a:p>
          <a:p>
            <a:r>
              <a:rPr lang="en-IN" sz="3300" dirty="0"/>
              <a:t>User authentication &amp; history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4000" b="1" u="sng" dirty="0"/>
              <a:t>Advantages</a:t>
            </a:r>
            <a:r>
              <a:rPr lang="en-IN" b="1" dirty="0"/>
              <a:t>:</a:t>
            </a:r>
          </a:p>
          <a:p>
            <a:r>
              <a:rPr lang="en-IN" sz="3300" dirty="0"/>
              <a:t>Saves time</a:t>
            </a:r>
          </a:p>
          <a:p>
            <a:r>
              <a:rPr lang="en-IN" sz="3300" dirty="0"/>
              <a:t>Improves understanding</a:t>
            </a:r>
          </a:p>
          <a:p>
            <a:r>
              <a:rPr lang="en-IN" sz="3300" dirty="0"/>
              <a:t>Easy to use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4000" b="1" u="sng" dirty="0"/>
              <a:t>Disadvantages</a:t>
            </a:r>
            <a:r>
              <a:rPr lang="en-IN" b="1" dirty="0"/>
              <a:t>:</a:t>
            </a:r>
          </a:p>
          <a:p>
            <a:r>
              <a:rPr lang="en-IN" sz="3300" dirty="0"/>
              <a:t>Limited to specific languages (Python)</a:t>
            </a:r>
          </a:p>
          <a:p>
            <a:r>
              <a:rPr lang="en-IN" sz="3300" dirty="0"/>
              <a:t>Requires internet (API-based)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968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C10C0-F42D-07C0-0D56-5FF39016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267" y="1117599"/>
            <a:ext cx="12930293" cy="389467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SRS- SOFTWARE REQUIREMENT SPECIFICATION</a:t>
            </a:r>
            <a:endParaRPr lang="en-IN" sz="3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E5C68-07EA-4378-E6FE-7E71BA06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267" y="1665816"/>
            <a:ext cx="12618720" cy="5221606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Functional Requirements:</a:t>
            </a:r>
          </a:p>
          <a:p>
            <a:r>
              <a:rPr lang="en-US" dirty="0"/>
              <a:t>User registration &amp; login</a:t>
            </a:r>
          </a:p>
          <a:p>
            <a:r>
              <a:rPr lang="en-US" dirty="0"/>
              <a:t>OTP verification</a:t>
            </a:r>
          </a:p>
          <a:p>
            <a:r>
              <a:rPr lang="en-US" dirty="0"/>
              <a:t>Code input</a:t>
            </a:r>
          </a:p>
          <a:p>
            <a:r>
              <a:rPr lang="en-US" dirty="0"/>
              <a:t>Flowchart generation</a:t>
            </a:r>
          </a:p>
          <a:p>
            <a:r>
              <a:rPr lang="en-US" dirty="0"/>
              <a:t>Activity history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Non-Functional Requirements:</a:t>
            </a:r>
          </a:p>
          <a:p>
            <a:r>
              <a:rPr lang="en-US" dirty="0"/>
              <a:t>Fast response time</a:t>
            </a:r>
          </a:p>
          <a:p>
            <a:r>
              <a:rPr lang="en-US" dirty="0"/>
              <a:t>Secure authentication</a:t>
            </a:r>
          </a:p>
          <a:p>
            <a:r>
              <a:rPr lang="en-US" dirty="0"/>
              <a:t>Scalable system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2805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548D4-AECB-5DE4-161B-0881E9419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</p:spPr>
        <p:txBody>
          <a:bodyPr anchor="ctr">
            <a:normAutofit/>
          </a:bodyPr>
          <a:lstStyle/>
          <a:p>
            <a:r>
              <a:rPr lang="en-US" sz="3600" b="1" dirty="0"/>
              <a:t>MODULES AND FUNCTIONALITIES</a:t>
            </a:r>
            <a:endParaRPr lang="en-IN" sz="3600" b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54147F7-A72F-CA40-1686-0B40A04F3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7036" r="1" b="7038"/>
          <a:stretch>
            <a:fillRect/>
          </a:stretch>
        </p:blipFill>
        <p:spPr>
          <a:xfrm>
            <a:off x="1005840" y="2190750"/>
            <a:ext cx="12618720" cy="522160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16247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7FF4B62-AB3A-4B8F-4FE5-87B79086B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982133"/>
            <a:ext cx="12618720" cy="524934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DFD – DATAFLOW DIAGRAM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01C5135-C618-8156-2A89-4D629912B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7413" y="1939307"/>
            <a:ext cx="12619037" cy="4755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61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CE076567-9A63-C466-D359-5D8BDA2A2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DBD &amp; ERD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0A3BA160-3F7C-D2BF-9DE4-16A19DC2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05840" y="1727200"/>
            <a:ext cx="6217920" cy="5685156"/>
          </a:xfrm>
          <a:prstGeom prst="rect">
            <a:avLst/>
          </a:prstGeom>
          <a:noFill/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BC9089C7-48C9-FDEE-C5B6-264CAFA308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407275" y="1727200"/>
            <a:ext cx="6216650" cy="56851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EE40A0CD-CF65-4BC0-7683-6CD117631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439333"/>
            <a:ext cx="12618720" cy="118534"/>
          </a:xfrm>
        </p:spPr>
        <p:txBody>
          <a:bodyPr>
            <a:normAutofit fontScale="90000"/>
          </a:bodyPr>
          <a:lstStyle/>
          <a:p>
            <a:r>
              <a:rPr lang="en-IN" sz="3600" b="1" dirty="0"/>
              <a:t>Software/Hardware Requirements</a:t>
            </a:r>
            <a:br>
              <a:rPr lang="en-IN" sz="3600" b="1" dirty="0"/>
            </a:br>
            <a:endParaRPr lang="en-IN" sz="3600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AAFCC12-704C-8A63-D453-CE91B04B0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693333"/>
            <a:ext cx="12618720" cy="5719023"/>
          </a:xfrm>
        </p:spPr>
        <p:txBody>
          <a:bodyPr>
            <a:normAutofit fontScale="4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b="1" u="sng" dirty="0"/>
              <a:t>Software:</a:t>
            </a:r>
          </a:p>
          <a:p>
            <a:r>
              <a:rPr lang="en-IN" dirty="0"/>
              <a:t>Python – Backend Runtime</a:t>
            </a:r>
          </a:p>
          <a:p>
            <a:r>
              <a:rPr lang="en-IN" dirty="0" err="1"/>
              <a:t>FastAPI</a:t>
            </a:r>
            <a:r>
              <a:rPr lang="en-IN" dirty="0"/>
              <a:t> – </a:t>
            </a:r>
            <a:r>
              <a:rPr lang="en-IN" dirty="0" err="1"/>
              <a:t>RestAPI</a:t>
            </a:r>
            <a:r>
              <a:rPr lang="en-IN" dirty="0"/>
              <a:t> Framework</a:t>
            </a:r>
          </a:p>
          <a:p>
            <a:r>
              <a:rPr lang="en-IN" dirty="0" err="1"/>
              <a:t>Uvicorn</a:t>
            </a:r>
            <a:r>
              <a:rPr lang="en-IN" dirty="0"/>
              <a:t> – ASGI Server to Run </a:t>
            </a:r>
            <a:r>
              <a:rPr lang="en-IN" dirty="0" err="1"/>
              <a:t>FastAPI</a:t>
            </a:r>
            <a:endParaRPr lang="en-IN" dirty="0"/>
          </a:p>
          <a:p>
            <a:r>
              <a:rPr lang="en-IN" dirty="0" err="1"/>
              <a:t>Pyodbc</a:t>
            </a:r>
            <a:r>
              <a:rPr lang="en-IN" dirty="0"/>
              <a:t> – SQL Server Database connector</a:t>
            </a:r>
          </a:p>
          <a:p>
            <a:r>
              <a:rPr lang="en-IN" dirty="0"/>
              <a:t>Requests – HTTP Calls for FAST2SMS OTP</a:t>
            </a:r>
          </a:p>
          <a:p>
            <a:r>
              <a:rPr lang="en-IN" dirty="0"/>
              <a:t>NPM- Package Manager</a:t>
            </a:r>
          </a:p>
          <a:p>
            <a:r>
              <a:rPr lang="en-IN" dirty="0"/>
              <a:t>React – UI Framework</a:t>
            </a:r>
          </a:p>
          <a:p>
            <a:r>
              <a:rPr lang="en-IN" dirty="0" err="1"/>
              <a:t>ReactFlow</a:t>
            </a:r>
            <a:r>
              <a:rPr lang="en-IN" dirty="0"/>
              <a:t> – Interactive Flowchart rendering</a:t>
            </a:r>
          </a:p>
          <a:p>
            <a:r>
              <a:rPr lang="en-IN" dirty="0"/>
              <a:t>Vite – Frontend build tool/ dev Server</a:t>
            </a:r>
          </a:p>
          <a:p>
            <a:r>
              <a:rPr lang="en-IN" dirty="0"/>
              <a:t>SQL Server –Main </a:t>
            </a:r>
            <a:r>
              <a:rPr lang="en-IN" dirty="0" err="1"/>
              <a:t>db</a:t>
            </a:r>
            <a:endParaRPr lang="en-IN" dirty="0"/>
          </a:p>
          <a:p>
            <a:r>
              <a:rPr lang="en-IN" dirty="0"/>
              <a:t>SSMS – Database management UI</a:t>
            </a:r>
          </a:p>
          <a:p>
            <a:r>
              <a:rPr lang="en-IN" dirty="0"/>
              <a:t>ODBC Driver – driver to connect </a:t>
            </a:r>
            <a:r>
              <a:rPr lang="en-IN" dirty="0" err="1"/>
              <a:t>Pyodbc</a:t>
            </a:r>
            <a:r>
              <a:rPr lang="en-IN" dirty="0"/>
              <a:t> to connect </a:t>
            </a:r>
            <a:r>
              <a:rPr lang="en-IN"/>
              <a:t>python for SQL server</a:t>
            </a: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u="sng" dirty="0"/>
              <a:t>Hardware:</a:t>
            </a:r>
          </a:p>
          <a:p>
            <a:r>
              <a:rPr lang="en-IN" dirty="0"/>
              <a:t>Minimum 4GB RAM</a:t>
            </a:r>
          </a:p>
          <a:p>
            <a:r>
              <a:rPr lang="en-IN" dirty="0"/>
              <a:t>Laptop/Desktop</a:t>
            </a:r>
          </a:p>
          <a:p>
            <a:pPr marL="0" indent="0">
              <a:buNone/>
            </a:pPr>
            <a:br>
              <a:rPr lang="en-IN" dirty="0"/>
            </a:br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EA3AE-9108-9DAD-42F9-DE1E9BDEA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 dirty="0"/>
              <a:t>Algorithms: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A275A7-053B-34F8-02D2-220BE5E19F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724170"/>
              </p:ext>
            </p:extLst>
          </p:nvPr>
        </p:nvGraphicFramePr>
        <p:xfrm>
          <a:off x="1006475" y="1695449"/>
          <a:ext cx="12617451" cy="6340760"/>
        </p:xfrm>
        <a:graphic>
          <a:graphicData uri="http://schemas.openxmlformats.org/drawingml/2006/table">
            <a:tbl>
              <a:tblPr/>
              <a:tblGrid>
                <a:gridCol w="4205817">
                  <a:extLst>
                    <a:ext uri="{9D8B030D-6E8A-4147-A177-3AD203B41FA5}">
                      <a16:colId xmlns:a16="http://schemas.microsoft.com/office/drawing/2014/main" val="1753071766"/>
                    </a:ext>
                  </a:extLst>
                </a:gridCol>
                <a:gridCol w="4205817">
                  <a:extLst>
                    <a:ext uri="{9D8B030D-6E8A-4147-A177-3AD203B41FA5}">
                      <a16:colId xmlns:a16="http://schemas.microsoft.com/office/drawing/2014/main" val="3097947666"/>
                    </a:ext>
                  </a:extLst>
                </a:gridCol>
                <a:gridCol w="4205817">
                  <a:extLst>
                    <a:ext uri="{9D8B030D-6E8A-4147-A177-3AD203B41FA5}">
                      <a16:colId xmlns:a16="http://schemas.microsoft.com/office/drawing/2014/main" val="238821683"/>
                    </a:ext>
                  </a:extLst>
                </a:gridCol>
              </a:tblGrid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b="0">
                          <a:solidFill>
                            <a:schemeClr val="bg2"/>
                          </a:solidFill>
                          <a:effectLst/>
                        </a:rPr>
                        <a:t>Algorithm</a:t>
                      </a:r>
                    </a:p>
                  </a:txBody>
                  <a:tcPr>
                    <a:lnL w="12700" cap="flat" cmpd="sng" algn="ctr">
                      <a:solidFill>
                        <a:srgbClr val="B051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4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051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b="0">
                          <a:solidFill>
                            <a:schemeClr val="bg2"/>
                          </a:solidFill>
                          <a:effectLst/>
                        </a:rPr>
                        <a:t>Where Used</a:t>
                      </a:r>
                    </a:p>
                  </a:txBody>
                  <a:tcPr>
                    <a:lnL w="12700" cap="flat" cmpd="sng" algn="ctr">
                      <a:solidFill>
                        <a:srgbClr val="B04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57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04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b="0">
                          <a:solidFill>
                            <a:schemeClr val="bg2"/>
                          </a:solidFill>
                          <a:effectLst/>
                        </a:rPr>
                        <a:t>Purpose</a:t>
                      </a:r>
                    </a:p>
                  </a:txBody>
                  <a:tcPr>
                    <a:lnL w="12700" cap="flat" cmpd="sng" algn="ctr">
                      <a:solidFill>
                        <a:srgbClr val="F057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57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57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072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403304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AST Parsing</a:t>
                      </a:r>
                    </a:p>
                  </a:txBody>
                  <a:tcPr>
                    <a:lnL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77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ast.parse()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72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06E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24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2200">
                          <a:solidFill>
                            <a:schemeClr val="bg2"/>
                          </a:solidFill>
                          <a:effectLst/>
                        </a:rPr>
                        <a:t>Read and understand Python code</a:t>
                      </a:r>
                    </a:p>
                  </a:txBody>
                  <a:tcPr>
                    <a:lnL w="12700" cap="flat" cmpd="sng" algn="ctr">
                      <a:solidFill>
                        <a:srgbClr val="A072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72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072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176120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</a:rPr>
                        <a:t>DFS (Depth first search) Tree Traversal</a:t>
                      </a:r>
                    </a:p>
                  </a:txBody>
                  <a:tcPr>
                    <a:lnL w="12700" cap="flat" cmpd="sng" algn="ctr">
                      <a:solidFill>
                        <a:srgbClr val="E077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24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77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7A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parse_statements()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7024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24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56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Walk through code structure</a:t>
                      </a:r>
                    </a:p>
                  </a:txBody>
                  <a:tcPr>
                    <a:lnL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27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068910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</a:rPr>
                        <a:t>Graph Construction</a:t>
                      </a:r>
                    </a:p>
                  </a:txBody>
                  <a:tcPr>
                    <a:lnL w="12700" cap="flat" cmpd="sng" algn="ctr">
                      <a:solidFill>
                        <a:srgbClr val="207A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56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7A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41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 err="1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make_node</a:t>
                      </a: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()</a:t>
                      </a: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</a:rPr>
                        <a:t>, </a:t>
                      </a:r>
                      <a:r>
                        <a:rPr lang="en-IN" sz="2200" dirty="0" err="1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make_edge</a:t>
                      </a: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()</a:t>
                      </a:r>
                      <a:endParaRPr lang="en-IN" sz="22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3056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27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56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6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Build flowchart diagram</a:t>
                      </a:r>
                    </a:p>
                  </a:txBody>
                  <a:tcPr>
                    <a:lnL w="12700" cap="flat" cmpd="sng" algn="ctr">
                      <a:solidFill>
                        <a:srgbClr val="F027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27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27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558194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</a:rPr>
                        <a:t>Static Input Detection</a:t>
                      </a:r>
                    </a:p>
                  </a:txBody>
                  <a:tcPr>
                    <a:lnL w="12700" cap="flat" cmpd="sng" algn="ctr">
                      <a:solidFill>
                        <a:srgbClr val="F041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6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41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4D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 err="1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scan_input_calls</a:t>
                      </a: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()</a:t>
                      </a:r>
                      <a:endParaRPr lang="en-IN" sz="22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D06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6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6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2200">
                          <a:solidFill>
                            <a:schemeClr val="bg2"/>
                          </a:solidFill>
                          <a:effectLst/>
                        </a:rPr>
                        <a:t>Find all input() calls before running</a:t>
                      </a:r>
                    </a:p>
                  </a:txBody>
                  <a:tcPr>
                    <a:lnL w="12700" cap="flat" cmpd="sng" algn="ctr">
                      <a:solidFill>
                        <a:srgbClr val="30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42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240378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Sandboxed Execution</a:t>
                      </a:r>
                    </a:p>
                  </a:txBody>
                  <a:tcPr>
                    <a:lnL w="12700" cap="flat" cmpd="sng" algn="ctr">
                      <a:solidFill>
                        <a:srgbClr val="304D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6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4D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run_code_safe()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906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42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6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42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Execute code safely</a:t>
                      </a:r>
                    </a:p>
                  </a:txBody>
                  <a:tcPr>
                    <a:lnL w="12700" cap="flat" cmpd="sng" algn="ctr">
                      <a:solidFill>
                        <a:srgbClr val="7042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42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42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0858625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Token Authentication</a:t>
                      </a:r>
                    </a:p>
                  </a:txBody>
                  <a:tcPr>
                    <a:lnL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42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58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gen_token()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3042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42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B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2200">
                          <a:solidFill>
                            <a:schemeClr val="bg2"/>
                          </a:solidFill>
                          <a:effectLst/>
                        </a:rPr>
                        <a:t>Keep users logged in securely</a:t>
                      </a:r>
                    </a:p>
                  </a:txBody>
                  <a:tcPr>
                    <a:lnL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520156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OTP Generation</a:t>
                      </a:r>
                    </a:p>
                  </a:txBody>
                  <a:tcPr>
                    <a:lnL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B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33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gen_otp()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E0B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B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E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Verify mobile number</a:t>
                      </a:r>
                    </a:p>
                  </a:txBody>
                  <a:tcPr>
                    <a:lnL w="12700" cap="flat" cmpd="sng" algn="ctr">
                      <a:solidFill>
                        <a:srgbClr val="9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E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610174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SHA-256 Hashing</a:t>
                      </a:r>
                    </a:p>
                  </a:txBody>
                  <a:tcPr>
                    <a:lnL w="12700" cap="flat" cmpd="sng" algn="ctr">
                      <a:solidFill>
                        <a:srgbClr val="1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E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D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hash_pw()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50E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E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E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Store passwords safely</a:t>
                      </a:r>
                    </a:p>
                  </a:txBody>
                  <a:tcPr>
                    <a:lnL w="12700" cap="flat" cmpd="sng" algn="ctr">
                      <a:solidFill>
                        <a:srgbClr val="50E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E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EE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F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12300"/>
                  </a:ext>
                </a:extLst>
              </a:tr>
              <a:tr h="5172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Rule-Based NLP</a:t>
                      </a:r>
                    </a:p>
                  </a:txBody>
                  <a:tcPr>
                    <a:lnL w="12700" cap="flat" cmpd="sng" algn="ctr">
                      <a:solidFill>
                        <a:srgbClr val="D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00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plain_english_explanation()</a:t>
                      </a:r>
                      <a:endParaRPr lang="en-IN" sz="22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9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F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F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F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2200">
                          <a:solidFill>
                            <a:schemeClr val="bg2"/>
                          </a:solidFill>
                          <a:effectLst/>
                        </a:rPr>
                        <a:t>Explain code in simple English</a:t>
                      </a:r>
                    </a:p>
                  </a:txBody>
                  <a:tcPr>
                    <a:lnL w="12700" cap="flat" cmpd="sng" algn="ctr">
                      <a:solidFill>
                        <a:srgbClr val="90F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F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F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F8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92141"/>
                  </a:ext>
                </a:extLst>
              </a:tr>
              <a:tr h="9236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>
                          <a:solidFill>
                            <a:schemeClr val="bg2"/>
                          </a:solidFill>
                          <a:effectLst/>
                        </a:rPr>
                        <a:t>Canvas Drawing</a:t>
                      </a:r>
                    </a:p>
                  </a:txBody>
                  <a:tcPr>
                    <a:lnL w="12700" cap="flat" cmpd="sng" algn="ctr">
                      <a:solidFill>
                        <a:srgbClr val="1000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F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00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1000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 err="1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handleDownload</a:t>
                      </a: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  <a:latin typeface="Anthropic Mono"/>
                        </a:rPr>
                        <a:t>()</a:t>
                      </a:r>
                      <a:endParaRPr lang="en-IN" sz="22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rgbClr val="50F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F8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F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50F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2200" dirty="0">
                          <a:solidFill>
                            <a:schemeClr val="bg2"/>
                          </a:solidFill>
                          <a:effectLst/>
                        </a:rPr>
                        <a:t>Generate downloadable PNG flowchart</a:t>
                      </a:r>
                    </a:p>
                  </a:txBody>
                  <a:tcPr>
                    <a:lnL w="12700" cap="flat" cmpd="sng" algn="ctr">
                      <a:solidFill>
                        <a:srgbClr val="90F8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F8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F8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90F8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965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1533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BFFD4-CCAA-C3F1-66CF-EE79B189A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GANTT CHART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7A818E-0FC2-22F9-1E04-14D0BD0D33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867" y="1608667"/>
            <a:ext cx="12828693" cy="58036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08388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6CFF3-B6F1-B1EE-EFE1-38C886A7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032933"/>
            <a:ext cx="12618720" cy="457200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CONCLUSION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04E655-1793-E15F-72B1-DD86FE2DC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727200"/>
            <a:ext cx="12618720" cy="568515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Successfully developed a system to convert code into flowcharts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Improved code understanding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Integrated authentication and activity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Can be extended for multiple programming languages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587854458"/>
      </p:ext>
    </p:extLst>
  </p:cSld>
  <p:clrMapOvr>
    <a:masterClrMapping/>
  </p:clrMapOvr>
</p:sld>
</file>

<file path=ppt/theme/theme1.xml><?xml version="1.0" encoding="utf-8"?>
<a:theme xmlns:a="http://schemas.openxmlformats.org/drawingml/2006/main" name="sho[ talk sample ppt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sho[ talk sample ppt</Template>
  <TotalTime>847</TotalTime>
  <Words>486</Words>
  <Application>Microsoft Office PowerPoint</Application>
  <PresentationFormat>Custom</PresentationFormat>
  <Paragraphs>120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Abadi</vt:lpstr>
      <vt:lpstr>Calibri</vt:lpstr>
      <vt:lpstr>Anthropic Mono</vt:lpstr>
      <vt:lpstr>Lato Bold</vt:lpstr>
      <vt:lpstr>Arial</vt:lpstr>
      <vt:lpstr>Aptos</vt:lpstr>
      <vt:lpstr>Garamond</vt:lpstr>
      <vt:lpstr>sho[ talk sample ppt</vt:lpstr>
      <vt:lpstr>PowerPoint Presentation</vt:lpstr>
      <vt:lpstr>INTRODUCTION</vt:lpstr>
      <vt:lpstr>FEASIBILITY STUDY</vt:lpstr>
      <vt:lpstr>EXSISTING SYSTEM AND DISADVANTAGES</vt:lpstr>
      <vt:lpstr>PROPOSED SYSTEM AND DISADVANTAGES</vt:lpstr>
      <vt:lpstr>SRS- SOFTWARE REQUIREMENT SPECIFICATION</vt:lpstr>
      <vt:lpstr>MODULES AND FUNCTIONALITIES</vt:lpstr>
      <vt:lpstr>DFD – DATAFLOW DIAGRAM</vt:lpstr>
      <vt:lpstr>DBD &amp; ERD</vt:lpstr>
      <vt:lpstr>Software/Hardware Requirements </vt:lpstr>
      <vt:lpstr>Algorithms:</vt:lpstr>
      <vt:lpstr>GANTT CHART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Jeeve M</dc:creator>
  <cp:lastModifiedBy>V RANJAN BABU</cp:lastModifiedBy>
  <cp:revision>99</cp:revision>
  <dcterms:created xsi:type="dcterms:W3CDTF">2025-11-22T00:20:05Z</dcterms:created>
  <dcterms:modified xsi:type="dcterms:W3CDTF">2026-04-25T07:48:02Z</dcterms:modified>
</cp:coreProperties>
</file>