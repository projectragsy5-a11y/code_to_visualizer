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62" r:id="rId4"/>
    <p:sldId id="263" r:id="rId5"/>
    <p:sldId id="272" r:id="rId6"/>
    <p:sldId id="273" r:id="rId7"/>
    <p:sldId id="274" r:id="rId8"/>
    <p:sldId id="266" r:id="rId9"/>
    <p:sldId id="259" r:id="rId10"/>
    <p:sldId id="261" r:id="rId11"/>
    <p:sldId id="275" r:id="rId12"/>
    <p:sldId id="271" r:id="rId13"/>
  </p:sldIdLst>
  <p:sldSz cx="14630400" cy="8229600"/>
  <p:notesSz cx="8229600" cy="14630400"/>
  <p:embeddedFontLst>
    <p:embeddedFont>
      <p:font typeface="Abadi" panose="020B0604020104020204" pitchFamily="34" charset="0"/>
      <p:regular r:id="rId16"/>
      <p:bold r:id="rId17"/>
      <p:italic r:id="rId18"/>
      <p:boldItalic r:id="rId19"/>
    </p:embeddedFont>
    <p:embeddedFont>
      <p:font typeface="Garamond" panose="02020404030301010803" pitchFamily="18" charset="0"/>
      <p:regular r:id="rId20"/>
      <p:bold r:id="rId21"/>
      <p:italic r:id="rId22"/>
    </p:embeddedFont>
    <p:embeddedFont>
      <p:font typeface="Lato Bold" panose="020B0604020202020204" charset="0"/>
      <p:bold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FF7"/>
    <a:srgbClr val="D2DEEF"/>
    <a:srgbClr val="EFEC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7721" autoAdjust="0"/>
    <p:restoredTop sz="94610"/>
  </p:normalViewPr>
  <p:slideViewPr>
    <p:cSldViewPr snapToGrid="0" snapToObjects="1">
      <p:cViewPr varScale="1">
        <p:scale>
          <a:sx n="44" d="100"/>
          <a:sy n="44" d="100"/>
        </p:scale>
        <p:origin x="66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BC209F-BD4C-6359-B964-E80525FD5FD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rga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0F795A-38A3-9B98-894F-9570CC580D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13CE3-D9A5-4051-8901-5CD2DD1DC6DE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CB9BE0-1B30-CA57-D1AE-03B993A2596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72A406-F6E8-0910-5EB2-C9E643C7F0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F01EF-C7EA-47FA-A004-6D97CAE59F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99797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7948284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1346836"/>
            <a:ext cx="1243584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90B17-B3D0-4022-95D4-B9C033A3C720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907716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A201D-14C3-4C38-B41B-8D6252F0F146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620992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8221" y="2051689"/>
            <a:ext cx="12618720" cy="3423284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8221" y="5507359"/>
            <a:ext cx="12618720" cy="1800224"/>
          </a:xfrm>
        </p:spPr>
        <p:txBody>
          <a:bodyPr/>
          <a:lstStyle>
            <a:lvl1pPr marL="0" indent="0">
              <a:buNone/>
              <a:defRPr sz="2880">
                <a:solidFill>
                  <a:schemeClr val="tx1"/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931F29-1161-47C1-A61E-689E17E1CAE0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9630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058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06640" y="2190750"/>
            <a:ext cx="6217920" cy="52216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62292-377F-49B2-8470-7E3D28AF7566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236261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438153"/>
            <a:ext cx="12618720" cy="15906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748" y="2017396"/>
            <a:ext cx="6189344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7748" y="3006090"/>
            <a:ext cx="6189344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06641" y="2017396"/>
            <a:ext cx="6219826" cy="988694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06641" y="3006090"/>
            <a:ext cx="6219826" cy="44215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08D415-5EB0-4A72-984A-5089030DE15C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940260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9BADF-6BB7-440D-A250-8DD22666F1C2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028428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4B072C-AC10-4AF0-A92F-C561FACC9C58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6449527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9826" y="1184913"/>
            <a:ext cx="7406640" cy="5848350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6B715-78BF-4287-A4F1-D3A5A65928D2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01476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746" y="548640"/>
            <a:ext cx="4718684" cy="1920240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19826" y="1184913"/>
            <a:ext cx="7406640" cy="5848350"/>
          </a:xfrm>
        </p:spPr>
        <p:txBody>
          <a:bodyPr anchor="t"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07746" y="2468880"/>
            <a:ext cx="4718684" cy="4573906"/>
          </a:xfrm>
        </p:spPr>
        <p:txBody>
          <a:bodyPr/>
          <a:lstStyle>
            <a:lvl1pPr marL="0" indent="0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82772-5ADA-4761-A66E-053028810C34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777975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BE0BCA-E093-423A-9BDB-416AA5FC6C30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519247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469881" y="438150"/>
            <a:ext cx="3154680" cy="697420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05841" y="438150"/>
            <a:ext cx="9281160" cy="697420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66BDD-EB0F-4675-B3D0-A20C14085CB3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7415971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58ADBD-BDA6-46B4-936F-27AB96CECF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0720" y="7469506"/>
            <a:ext cx="2539478" cy="424732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eaLnBrk="1" hangingPunct="1">
              <a:defRPr/>
            </a:pPr>
            <a:fld id="{DAC5ACEC-7CDE-4B09-A26F-6C14684A3C80}" type="datetime4">
              <a:rPr lang="en-IN" sz="2160" smtClean="0">
                <a:solidFill>
                  <a:prstClr val="black"/>
                </a:solidFill>
              </a:rPr>
              <a:pPr eaLnBrk="1" hangingPunct="1">
                <a:defRPr/>
              </a:pPr>
              <a:t>24 April 2026</a:t>
            </a:fld>
            <a:endParaRPr lang="en-IN" sz="216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342547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617779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46456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00870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520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4363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0611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2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05840" y="438153"/>
            <a:ext cx="12618720" cy="15906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40" y="2190750"/>
            <a:ext cx="12618720" cy="5221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05840" y="7627623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3E87F-C9C4-4E66-8E56-0E2CC44C954B}" type="datetime5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24-Apr-26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6320" y="7627623"/>
            <a:ext cx="493776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32720" y="7627623"/>
            <a:ext cx="3291840" cy="4381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11E5A3-DE94-4B23-91A1-9CCDE7E9460F}" type="slidenum">
              <a:rPr lang="en-IN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en-IN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810" y="8073386"/>
            <a:ext cx="14203679" cy="156214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4468376" y="0"/>
            <a:ext cx="162025" cy="82296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" y="0"/>
            <a:ext cx="162024" cy="8229600"/>
          </a:xfrm>
          <a:prstGeom prst="rect">
            <a:avLst/>
          </a:prstGeom>
          <a:solidFill>
            <a:srgbClr val="0089D1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23913" y="3"/>
            <a:ext cx="14206488" cy="186690"/>
          </a:xfrm>
          <a:prstGeom prst="rect">
            <a:avLst/>
          </a:prstGeom>
          <a:solidFill>
            <a:srgbClr val="0089D1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sp>
        <p:nvSpPr>
          <p:cNvPr id="12" name="Pentagon 11"/>
          <p:cNvSpPr/>
          <p:nvPr/>
        </p:nvSpPr>
        <p:spPr>
          <a:xfrm rot="5400000">
            <a:off x="62866" y="-62865"/>
            <a:ext cx="438152" cy="563884"/>
          </a:xfrm>
          <a:prstGeom prst="homePlate">
            <a:avLst/>
          </a:prstGeom>
          <a:solidFill>
            <a:schemeClr val="accent2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sp>
        <p:nvSpPr>
          <p:cNvPr id="13" name="Pentagon 12"/>
          <p:cNvSpPr/>
          <p:nvPr/>
        </p:nvSpPr>
        <p:spPr>
          <a:xfrm rot="16200000" flipV="1">
            <a:off x="14129384" y="7740016"/>
            <a:ext cx="438152" cy="563884"/>
          </a:xfrm>
          <a:prstGeom prst="homePlate">
            <a:avLst/>
          </a:prstGeom>
          <a:solidFill>
            <a:srgbClr val="0089D1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contrasting" dir="t">
              <a:rot lat="0" lon="0" rev="7800000"/>
            </a:lightRig>
          </a:scene3d>
          <a:sp3d>
            <a:bevelT w="139700" h="139700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620" dirty="0">
              <a:solidFill>
                <a:prstClr val="white"/>
              </a:solidFill>
            </a:endParaRPr>
          </a:p>
        </p:txBody>
      </p:sp>
      <p:cxnSp>
        <p:nvCxnSpPr>
          <p:cNvPr id="14" name="Straight Connector 13"/>
          <p:cNvCxnSpPr/>
          <p:nvPr/>
        </p:nvCxnSpPr>
        <p:spPr>
          <a:xfrm>
            <a:off x="651394" y="1506137"/>
            <a:ext cx="13224589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 descr="F:\F\abdesktop\Logo_NTTF_2019\NTTF Logo_png.png">
            <a:extLst>
              <a:ext uri="{FF2B5EF4-FFF2-40B4-BE49-F238E27FC236}">
                <a16:creationId xmlns:a16="http://schemas.microsoft.com/office/drawing/2014/main" id="{E4EB309A-98E3-9B48-B606-7F9D4FAE3B73}"/>
              </a:ext>
            </a:extLst>
          </p:cNvPr>
          <p:cNvPicPr/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6502" y="284080"/>
            <a:ext cx="3421957" cy="100677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16380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9" r:id="rId18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528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90000"/>
        </a:lnSpc>
        <a:spcBef>
          <a:spcPts val="1200"/>
        </a:spcBef>
        <a:buFontTx/>
        <a:buBlip>
          <a:blip r:embed="rId21"/>
        </a:buBlip>
        <a:defRPr sz="3360" kern="1200">
          <a:solidFill>
            <a:schemeClr val="tx1"/>
          </a:solidFill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90000"/>
        </a:lnSpc>
        <a:spcBef>
          <a:spcPts val="600"/>
        </a:spcBef>
        <a:buFontTx/>
        <a:buBlip>
          <a:blip r:embed="rId21"/>
        </a:buBlip>
        <a:defRPr sz="288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90000"/>
        </a:lnSpc>
        <a:spcBef>
          <a:spcPts val="600"/>
        </a:spcBef>
        <a:buFontTx/>
        <a:buBlip>
          <a:blip r:embed="rId21"/>
        </a:buBlip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90000"/>
        </a:lnSpc>
        <a:spcBef>
          <a:spcPts val="600"/>
        </a:spcBef>
        <a:buFontTx/>
        <a:buBlip>
          <a:blip r:embed="rId21"/>
        </a:buBlip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90000"/>
        </a:lnSpc>
        <a:spcBef>
          <a:spcPts val="600"/>
        </a:spcBef>
        <a:buFontTx/>
        <a:buBlip>
          <a:blip r:embed="rId21"/>
        </a:buBlip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299921" y="1724547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u="sng" dirty="0">
                <a:latin typeface="Abadi" panose="020B0604020104020204" pitchFamily="34" charset="0"/>
              </a:rPr>
              <a:t>RAGSY-CODE TO VISUALIZER</a:t>
            </a:r>
          </a:p>
        </p:txBody>
      </p:sp>
      <p:sp>
        <p:nvSpPr>
          <p:cNvPr id="4" name="Text 1"/>
          <p:cNvSpPr/>
          <p:nvPr/>
        </p:nvSpPr>
        <p:spPr>
          <a:xfrm>
            <a:off x="3299922" y="2820233"/>
            <a:ext cx="7556421" cy="2589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Presentation By :</a:t>
            </a:r>
          </a:p>
          <a:p>
            <a:pPr>
              <a:lnSpc>
                <a:spcPts val="2850"/>
              </a:lnSpc>
            </a:pPr>
            <a:endParaRPr lang="en-US" sz="2400" dirty="0">
              <a:solidFill>
                <a:srgbClr val="4A4A45"/>
              </a:solidFill>
              <a:latin typeface="Lato Bold"/>
              <a:ea typeface="Lato" pitchFamily="34" charset="-122"/>
              <a:cs typeface="Lato" pitchFamily="34" charset="-120"/>
            </a:endParaRPr>
          </a:p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	RANJANBABU .V            :  NEC0823004</a:t>
            </a:r>
          </a:p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	YOGESH .S             	        :  NEC0823014</a:t>
            </a:r>
          </a:p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	SHWETHA .A                   :  NEC0823029</a:t>
            </a:r>
          </a:p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	GOUTHAM .S                   :  NEC0823105</a:t>
            </a:r>
          </a:p>
          <a:p>
            <a:pPr>
              <a:lnSpc>
                <a:spcPts val="2850"/>
              </a:lnSpc>
            </a:pPr>
            <a:r>
              <a:rPr lang="en-US" sz="2400" dirty="0">
                <a:solidFill>
                  <a:srgbClr val="4A4A45"/>
                </a:solidFill>
                <a:latin typeface="Lato Bold"/>
                <a:ea typeface="Lato" pitchFamily="34" charset="-122"/>
                <a:cs typeface="Lato" pitchFamily="34" charset="-120"/>
              </a:rPr>
              <a:t>	AKLIMA BEGUM SARA :  NEC0823115</a:t>
            </a:r>
          </a:p>
          <a:p>
            <a:pPr>
              <a:lnSpc>
                <a:spcPts val="2850"/>
              </a:lnSpc>
            </a:pPr>
            <a:endParaRPr lang="en-US" sz="2400" dirty="0">
              <a:solidFill>
                <a:srgbClr val="4A4A45"/>
              </a:solidFill>
              <a:latin typeface="Lato Bold"/>
              <a:ea typeface="Lato" pitchFamily="34" charset="-122"/>
              <a:cs typeface="Lato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4E740A5C-FA20-AF02-5109-8D2265192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1032933"/>
            <a:ext cx="12618720" cy="423334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INTRODUCTION</a:t>
            </a:r>
            <a:endParaRPr lang="en-IN" sz="3600" b="1" dirty="0"/>
          </a:p>
        </p:txBody>
      </p:sp>
      <p:sp>
        <p:nvSpPr>
          <p:cNvPr id="27" name="Content Placeholder 26">
            <a:extLst>
              <a:ext uri="{FF2B5EF4-FFF2-40B4-BE49-F238E27FC236}">
                <a16:creationId xmlns:a16="http://schemas.microsoft.com/office/drawing/2014/main" id="{9BB09B92-A0F5-5FE4-15E9-C3BBC4F08E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1750483"/>
            <a:ext cx="12618720" cy="522160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latin typeface="Abadi" panose="020B0604020104020204" pitchFamily="34" charset="0"/>
              </a:rPr>
              <a:t>The </a:t>
            </a:r>
            <a:r>
              <a:rPr lang="en-US" sz="3200" i="1" dirty="0">
                <a:latin typeface="Abadi" panose="020B0604020104020204" pitchFamily="34" charset="0"/>
              </a:rPr>
              <a:t>Code to Visualizer (</a:t>
            </a:r>
            <a:r>
              <a:rPr lang="en-US" sz="3200" i="1" dirty="0" err="1">
                <a:latin typeface="Abadi" panose="020B0604020104020204" pitchFamily="34" charset="0"/>
              </a:rPr>
              <a:t>Ragsy</a:t>
            </a:r>
            <a:r>
              <a:rPr lang="en-US" sz="3200" i="1" dirty="0">
                <a:latin typeface="Abadi" panose="020B0604020104020204" pitchFamily="34" charset="0"/>
              </a:rPr>
              <a:t>)</a:t>
            </a:r>
            <a:r>
              <a:rPr lang="en-US" sz="3200" dirty="0">
                <a:latin typeface="Abadi" panose="020B0604020104020204" pitchFamily="34" charset="0"/>
              </a:rPr>
              <a:t> is a web-based application that converts Programming language code into interactive flowcharts to simplify understanding of program logic.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latin typeface="Abadi" panose="020B0604020104020204" pitchFamily="34" charset="0"/>
              </a:rPr>
              <a:t>It helps the users to visualize execution flow easily, making learning and debugging more efficient.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>
                <a:latin typeface="Abadi" panose="020B0604020104020204" pitchFamily="34" charset="0"/>
              </a:rPr>
              <a:t>The system also includes secure authentication and activity tracking for a better user experience.</a:t>
            </a:r>
            <a:endParaRPr lang="en-IN" sz="3200"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34">
            <a:extLst>
              <a:ext uri="{FF2B5EF4-FFF2-40B4-BE49-F238E27FC236}">
                <a16:creationId xmlns:a16="http://schemas.microsoft.com/office/drawing/2014/main" id="{C9F2BBDD-7D81-11C9-AA11-3356D97D3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1100667"/>
            <a:ext cx="12618720" cy="3556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FEASIBILITY STUDY</a:t>
            </a:r>
            <a:endParaRPr lang="en-IN" sz="3600" b="1" dirty="0"/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444CEF75-67F2-5704-9D1A-458C878F7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1733550"/>
            <a:ext cx="12618720" cy="522160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Technical Feasibility</a:t>
            </a:r>
            <a:endParaRPr lang="en-US" u="sng" dirty="0"/>
          </a:p>
          <a:p>
            <a:r>
              <a:rPr lang="en-US" sz="2800" dirty="0"/>
              <a:t>Built using modern technologies (React, APIs, Flowchart libraries)</a:t>
            </a:r>
          </a:p>
          <a:p>
            <a:r>
              <a:rPr lang="en-US" sz="2800" dirty="0"/>
              <a:t>Easy to develop, maintain, and scale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 </a:t>
            </a:r>
            <a:r>
              <a:rPr lang="en-US" b="1" u="sng" dirty="0"/>
              <a:t>Economic Feasibility</a:t>
            </a:r>
            <a:endParaRPr lang="en-US" dirty="0"/>
          </a:p>
          <a:p>
            <a:r>
              <a:rPr lang="en-US" sz="2800" dirty="0"/>
              <a:t>No need for expensive hardware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Operational Feasibility</a:t>
            </a:r>
            <a:endParaRPr lang="en-US" u="sng" dirty="0"/>
          </a:p>
          <a:p>
            <a:r>
              <a:rPr lang="en-US" sz="2800" dirty="0"/>
              <a:t>Simple and user-friendly interface</a:t>
            </a:r>
          </a:p>
          <a:p>
            <a:r>
              <a:rPr lang="en-US" sz="2800" dirty="0"/>
              <a:t>Requires minimal training for users</a:t>
            </a:r>
          </a:p>
          <a:p>
            <a:pPr>
              <a:buFont typeface="Arial" panose="020B0604020202020204" pitchFamily="34" charset="0"/>
              <a:buChar char="•"/>
            </a:pPr>
            <a:endParaRPr lang="en-IN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64908197-9111-1368-06A9-F6F07FB74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999067"/>
            <a:ext cx="12618720" cy="508000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EXSISTING SYSTEM AND DISADVANTAGES</a:t>
            </a:r>
            <a:endParaRPr lang="en-IN" sz="3600" b="1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A2995C34-3A82-AE31-B470-C83E1D727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1659467"/>
            <a:ext cx="12618720" cy="575288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Existing System:</a:t>
            </a:r>
          </a:p>
          <a:p>
            <a:r>
              <a:rPr lang="en-US" sz="2800" dirty="0"/>
              <a:t>Manual flowchart drawing</a:t>
            </a:r>
          </a:p>
          <a:p>
            <a:r>
              <a:rPr lang="en-US" sz="2800" dirty="0"/>
              <a:t>Static diagram tools</a:t>
            </a:r>
          </a:p>
          <a:p>
            <a:r>
              <a:rPr lang="en-US" sz="2800" dirty="0"/>
              <a:t>No automation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Disadvantages:</a:t>
            </a:r>
          </a:p>
          <a:p>
            <a:r>
              <a:rPr lang="en-US" sz="2800" dirty="0"/>
              <a:t>Time-consuming</a:t>
            </a:r>
          </a:p>
          <a:p>
            <a:r>
              <a:rPr lang="en-US" sz="2800" dirty="0"/>
              <a:t>Error </a:t>
            </a:r>
            <a:r>
              <a:rPr lang="en-US" sz="2800" dirty="0" err="1"/>
              <a:t>occurence</a:t>
            </a:r>
            <a:endParaRPr lang="en-US" sz="2800" dirty="0"/>
          </a:p>
          <a:p>
            <a:r>
              <a:rPr lang="en-US" sz="2800" dirty="0"/>
              <a:t>No real-time visualization</a:t>
            </a:r>
          </a:p>
          <a:p>
            <a:r>
              <a:rPr lang="en-US" sz="2800" dirty="0"/>
              <a:t>No integration with code</a:t>
            </a:r>
          </a:p>
          <a:p>
            <a:pPr marL="0" indent="0">
              <a:buNone/>
            </a:pPr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54F89-F5A5-8B14-B110-C7244A6335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982133"/>
            <a:ext cx="12618720" cy="524934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PROPOSED SYSTEM AND DISADVANTAGES</a:t>
            </a:r>
            <a:endParaRPr lang="en-IN" sz="3600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EEB0F-ED04-0B2F-E302-41F9B68B80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640" y="1665816"/>
            <a:ext cx="12618720" cy="5221606"/>
          </a:xfrm>
        </p:spPr>
        <p:txBody>
          <a:bodyPr>
            <a:normAutofit fontScale="850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sz="4000" b="1" u="sng" dirty="0"/>
              <a:t>Proposed System:</a:t>
            </a:r>
          </a:p>
          <a:p>
            <a:r>
              <a:rPr lang="en-IN" sz="3300" dirty="0"/>
              <a:t>Automatic </a:t>
            </a:r>
            <a:r>
              <a:rPr lang="en-IN" sz="3300" b="1" dirty="0"/>
              <a:t>code → flowchart conversion</a:t>
            </a:r>
            <a:endParaRPr lang="en-IN" sz="3300" dirty="0"/>
          </a:p>
          <a:p>
            <a:r>
              <a:rPr lang="en-IN" sz="3300" dirty="0"/>
              <a:t>Interactive visualization</a:t>
            </a:r>
          </a:p>
          <a:p>
            <a:r>
              <a:rPr lang="en-IN" sz="3300" dirty="0"/>
              <a:t>User authentication &amp; history tracking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4000" b="1" u="sng" dirty="0"/>
              <a:t>Advantages</a:t>
            </a:r>
            <a:r>
              <a:rPr lang="en-IN" b="1" dirty="0"/>
              <a:t>:</a:t>
            </a:r>
          </a:p>
          <a:p>
            <a:r>
              <a:rPr lang="en-IN" sz="3300" dirty="0"/>
              <a:t>Saves time</a:t>
            </a:r>
          </a:p>
          <a:p>
            <a:r>
              <a:rPr lang="en-IN" sz="3300" dirty="0"/>
              <a:t>Improves understanding</a:t>
            </a:r>
          </a:p>
          <a:p>
            <a:r>
              <a:rPr lang="en-IN" sz="3300" dirty="0"/>
              <a:t>Easy to use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4000" b="1" u="sng" dirty="0"/>
              <a:t>Disadvantages</a:t>
            </a:r>
            <a:r>
              <a:rPr lang="en-IN" b="1" dirty="0"/>
              <a:t>:</a:t>
            </a:r>
          </a:p>
          <a:p>
            <a:r>
              <a:rPr lang="en-IN" sz="3300" dirty="0"/>
              <a:t>Limited to specific languages (Python)</a:t>
            </a:r>
          </a:p>
          <a:p>
            <a:r>
              <a:rPr lang="en-IN" sz="3300" dirty="0"/>
              <a:t>Requires internet (API-based)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3968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C10C0-F42D-07C0-0D56-5FF390161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267" y="1117599"/>
            <a:ext cx="12930293" cy="389467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SRS- SOFTWARE REQUIREMENT SPECIFICATION</a:t>
            </a:r>
            <a:endParaRPr lang="en-IN" sz="36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E5C68-07EA-4378-E6FE-7E71BA06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267" y="1665816"/>
            <a:ext cx="12618720" cy="5221606"/>
          </a:xfrm>
        </p:spPr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Functional Requirements:</a:t>
            </a:r>
          </a:p>
          <a:p>
            <a:r>
              <a:rPr lang="en-US" dirty="0"/>
              <a:t>User registration &amp; login</a:t>
            </a:r>
          </a:p>
          <a:p>
            <a:r>
              <a:rPr lang="en-US" dirty="0"/>
              <a:t>OTP verification</a:t>
            </a:r>
          </a:p>
          <a:p>
            <a:r>
              <a:rPr lang="en-US" dirty="0"/>
              <a:t>Code input</a:t>
            </a:r>
          </a:p>
          <a:p>
            <a:r>
              <a:rPr lang="en-US" dirty="0"/>
              <a:t>Flowchart generation</a:t>
            </a:r>
          </a:p>
          <a:p>
            <a:r>
              <a:rPr lang="en-US" dirty="0"/>
              <a:t>Activity history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u="sng" dirty="0"/>
              <a:t>Non-Functional Requirements:</a:t>
            </a:r>
          </a:p>
          <a:p>
            <a:r>
              <a:rPr lang="en-US" dirty="0"/>
              <a:t>Fast response time</a:t>
            </a:r>
          </a:p>
          <a:p>
            <a:r>
              <a:rPr lang="en-US" dirty="0"/>
              <a:t>Secure authentication</a:t>
            </a:r>
          </a:p>
          <a:p>
            <a:r>
              <a:rPr lang="en-US" dirty="0"/>
              <a:t>Scalable system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2805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548D4-AECB-5DE4-161B-0881E9419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3"/>
            <a:ext cx="12618720" cy="1590676"/>
          </a:xfrm>
        </p:spPr>
        <p:txBody>
          <a:bodyPr anchor="ctr">
            <a:normAutofit/>
          </a:bodyPr>
          <a:lstStyle/>
          <a:p>
            <a:r>
              <a:rPr lang="en-US" sz="3600" b="1" dirty="0"/>
              <a:t>MODULES AND FUNCTIONALITIES</a:t>
            </a:r>
            <a:endParaRPr lang="en-IN" sz="3600" b="1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54147F7-A72F-CA40-1686-0B40A04F39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7036" r="1" b="7038"/>
          <a:stretch>
            <a:fillRect/>
          </a:stretch>
        </p:blipFill>
        <p:spPr>
          <a:xfrm>
            <a:off x="1005840" y="2190750"/>
            <a:ext cx="12618720" cy="522160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516247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B7FF4B62-AB3A-4B8F-4FE5-87B79086B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982133"/>
            <a:ext cx="12618720" cy="524934"/>
          </a:xfrm>
        </p:spPr>
        <p:txBody>
          <a:bodyPr>
            <a:normAutofit fontScale="90000"/>
          </a:bodyPr>
          <a:lstStyle/>
          <a:p>
            <a:r>
              <a:rPr lang="en-US" sz="3600" b="1" dirty="0">
                <a:latin typeface="Abadi" panose="020B0604020104020204" pitchFamily="34" charset="0"/>
              </a:rPr>
              <a:t>DFD – DATAFLOW DIAGRAM</a:t>
            </a:r>
            <a:endParaRPr lang="en-IN" sz="3600" b="1" dirty="0">
              <a:latin typeface="Abadi" panose="020B0604020104020204" pitchFamily="34" charset="0"/>
            </a:endParaRP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F01C5135-C618-8156-2A89-4D629912B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7413" y="1939307"/>
            <a:ext cx="12619037" cy="4755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7761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0">
            <a:extLst>
              <a:ext uri="{FF2B5EF4-FFF2-40B4-BE49-F238E27FC236}">
                <a16:creationId xmlns:a16="http://schemas.microsoft.com/office/drawing/2014/main" id="{CE076567-9A63-C466-D359-5D8BDA2A2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3"/>
            <a:ext cx="12618720" cy="1590676"/>
          </a:xfrm>
        </p:spPr>
        <p:txBody>
          <a:bodyPr anchor="ctr">
            <a:normAutofit/>
          </a:bodyPr>
          <a:lstStyle/>
          <a:p>
            <a:r>
              <a:rPr lang="en-US" sz="3600" b="1" dirty="0">
                <a:latin typeface="Abadi" panose="020B0604020104020204" pitchFamily="34" charset="0"/>
              </a:rPr>
              <a:t>DBD &amp; ERD</a:t>
            </a:r>
            <a:endParaRPr lang="en-IN" sz="3600" b="1" dirty="0">
              <a:latin typeface="Abadi" panose="020B0604020104020204" pitchFamily="34" charset="0"/>
            </a:endParaRP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0A3BA160-3F7C-D2BF-9DE4-16A19DC2CC3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05840" y="1727200"/>
            <a:ext cx="6217920" cy="5685156"/>
          </a:xfrm>
          <a:prstGeom prst="rect">
            <a:avLst/>
          </a:prstGeom>
          <a:noFill/>
        </p:spPr>
      </p:pic>
      <p:pic>
        <p:nvPicPr>
          <p:cNvPr id="26" name="Content Placeholder 25">
            <a:extLst>
              <a:ext uri="{FF2B5EF4-FFF2-40B4-BE49-F238E27FC236}">
                <a16:creationId xmlns:a16="http://schemas.microsoft.com/office/drawing/2014/main" id="{BC9089C7-48C9-FDEE-C5B6-264CAFA308E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7407275" y="1727200"/>
            <a:ext cx="6216650" cy="56851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EE40A0CD-CF65-4BC0-7683-6CD117631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1439333"/>
            <a:ext cx="12618720" cy="118534"/>
          </a:xfrm>
        </p:spPr>
        <p:txBody>
          <a:bodyPr>
            <a:normAutofit fontScale="90000"/>
          </a:bodyPr>
          <a:lstStyle/>
          <a:p>
            <a:r>
              <a:rPr lang="en-IN" sz="3600" b="1" dirty="0"/>
              <a:t>Software/Hardware Requirements</a:t>
            </a:r>
            <a:br>
              <a:rPr lang="en-IN" sz="3600" b="1" dirty="0"/>
            </a:br>
            <a:endParaRPr lang="en-IN" sz="3600" dirty="0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AAFCC12-704C-8A63-D453-CE91B04B0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1693333"/>
            <a:ext cx="12618720" cy="5719023"/>
          </a:xfrm>
        </p:spPr>
        <p:txBody>
          <a:bodyPr>
            <a:normAutofit fontScale="4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b="1" u="sng" dirty="0"/>
              <a:t>Software:</a:t>
            </a:r>
          </a:p>
          <a:p>
            <a:r>
              <a:rPr lang="en-IN" dirty="0"/>
              <a:t>Python – Backend Runtime</a:t>
            </a:r>
          </a:p>
          <a:p>
            <a:r>
              <a:rPr lang="en-IN" dirty="0" err="1"/>
              <a:t>FastAPI</a:t>
            </a:r>
            <a:r>
              <a:rPr lang="en-IN" dirty="0"/>
              <a:t> – </a:t>
            </a:r>
            <a:r>
              <a:rPr lang="en-IN" dirty="0" err="1"/>
              <a:t>RestAPI</a:t>
            </a:r>
            <a:r>
              <a:rPr lang="en-IN" dirty="0"/>
              <a:t> Framework</a:t>
            </a:r>
          </a:p>
          <a:p>
            <a:r>
              <a:rPr lang="en-IN" dirty="0" err="1"/>
              <a:t>Uvicorn</a:t>
            </a:r>
            <a:r>
              <a:rPr lang="en-IN" dirty="0"/>
              <a:t> – ASGI Server to Run </a:t>
            </a:r>
            <a:r>
              <a:rPr lang="en-IN" dirty="0" err="1"/>
              <a:t>FastAPI</a:t>
            </a:r>
            <a:endParaRPr lang="en-IN" dirty="0"/>
          </a:p>
          <a:p>
            <a:r>
              <a:rPr lang="en-IN" dirty="0" err="1"/>
              <a:t>Pyodbc</a:t>
            </a:r>
            <a:r>
              <a:rPr lang="en-IN" dirty="0"/>
              <a:t> – SQL Server Database connector</a:t>
            </a:r>
          </a:p>
          <a:p>
            <a:r>
              <a:rPr lang="en-IN" dirty="0"/>
              <a:t>Requests – HTTP Calls for FAST2SMS OTP</a:t>
            </a:r>
          </a:p>
          <a:p>
            <a:r>
              <a:rPr lang="en-IN" dirty="0"/>
              <a:t>NPM- Package Manager</a:t>
            </a:r>
          </a:p>
          <a:p>
            <a:r>
              <a:rPr lang="en-IN" dirty="0"/>
              <a:t>React – UI Framework</a:t>
            </a:r>
          </a:p>
          <a:p>
            <a:r>
              <a:rPr lang="en-IN" dirty="0" err="1"/>
              <a:t>ReactFlow</a:t>
            </a:r>
            <a:r>
              <a:rPr lang="en-IN" dirty="0"/>
              <a:t> – Interactive Flowchart rendering</a:t>
            </a:r>
          </a:p>
          <a:p>
            <a:r>
              <a:rPr lang="en-IN" dirty="0"/>
              <a:t>Vite – Frontend build tool/ dev Server</a:t>
            </a:r>
          </a:p>
          <a:p>
            <a:r>
              <a:rPr lang="en-IN" dirty="0"/>
              <a:t>SQL Server –Main </a:t>
            </a:r>
            <a:r>
              <a:rPr lang="en-IN" dirty="0" err="1"/>
              <a:t>db</a:t>
            </a:r>
            <a:endParaRPr lang="en-IN" dirty="0"/>
          </a:p>
          <a:p>
            <a:r>
              <a:rPr lang="en-IN" dirty="0"/>
              <a:t>SSMS – Database management UI</a:t>
            </a:r>
          </a:p>
          <a:p>
            <a:r>
              <a:rPr lang="en-IN" dirty="0"/>
              <a:t>ODBC Driver – driver to connect </a:t>
            </a:r>
            <a:r>
              <a:rPr lang="en-IN" dirty="0" err="1"/>
              <a:t>Pyodbc</a:t>
            </a:r>
            <a:r>
              <a:rPr lang="en-IN" dirty="0"/>
              <a:t> to connect </a:t>
            </a:r>
            <a:r>
              <a:rPr lang="en-IN"/>
              <a:t>python for SQL server</a:t>
            </a:r>
            <a:endParaRPr lang="en-IN" dirty="0"/>
          </a:p>
          <a:p>
            <a:pPr>
              <a:buFont typeface="Arial" panose="020B0604020202020204" pitchFamily="34" charset="0"/>
              <a:buChar char="•"/>
            </a:pPr>
            <a:r>
              <a:rPr lang="en-IN" b="1" u="sng" dirty="0"/>
              <a:t>Hardware:</a:t>
            </a:r>
          </a:p>
          <a:p>
            <a:r>
              <a:rPr lang="en-IN" dirty="0"/>
              <a:t>Minimum 4GB RAM</a:t>
            </a:r>
          </a:p>
          <a:p>
            <a:r>
              <a:rPr lang="en-IN" dirty="0"/>
              <a:t>Laptop/Desktop</a:t>
            </a:r>
          </a:p>
          <a:p>
            <a:pPr marL="0" indent="0">
              <a:buNone/>
            </a:pPr>
            <a:br>
              <a:rPr lang="en-IN" dirty="0"/>
            </a:br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BFFD4-CCAA-C3F1-66CF-EE79B189A5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438153"/>
            <a:ext cx="12618720" cy="1590676"/>
          </a:xfrm>
        </p:spPr>
        <p:txBody>
          <a:bodyPr anchor="ctr">
            <a:normAutofit/>
          </a:bodyPr>
          <a:lstStyle/>
          <a:p>
            <a:r>
              <a:rPr lang="en-US" sz="3600" b="1" dirty="0">
                <a:latin typeface="Abadi" panose="020B0604020104020204" pitchFamily="34" charset="0"/>
              </a:rPr>
              <a:t>GANTT CHART</a:t>
            </a:r>
            <a:endParaRPr lang="en-IN" sz="3600" b="1" dirty="0">
              <a:latin typeface="Abadi" panose="020B0604020104020204" pitchFamily="34" charset="0"/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7A818E-0FC2-22F9-1E04-14D0BD0D33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867" y="1608667"/>
            <a:ext cx="12828693" cy="580368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1083885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6CFF3-B6F1-B1EE-EFE1-38C886A71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1032933"/>
            <a:ext cx="12618720" cy="457200"/>
          </a:xfrm>
        </p:spPr>
        <p:txBody>
          <a:bodyPr>
            <a:normAutofit fontScale="90000"/>
          </a:bodyPr>
          <a:lstStyle/>
          <a:p>
            <a:r>
              <a:rPr lang="en-US" sz="3600" b="1" dirty="0">
                <a:latin typeface="Abadi" panose="020B0604020104020204" pitchFamily="34" charset="0"/>
              </a:rPr>
              <a:t>CONCLUSION</a:t>
            </a:r>
            <a:endParaRPr lang="en-IN" sz="3600" b="1" dirty="0">
              <a:latin typeface="Abadi" panose="020B0604020104020204" pitchFamily="34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B04E655-1793-E15F-72B1-DD86FE2DC4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5840" y="1727200"/>
            <a:ext cx="12618720" cy="5685156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Successfully developed a system to convert code into flowcharts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Improved code understanding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Integrated authentication and activity tracking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3200" dirty="0"/>
              <a:t>Can be extended for multiple programming languages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587854458"/>
      </p:ext>
    </p:extLst>
  </p:cSld>
  <p:clrMapOvr>
    <a:masterClrMapping/>
  </p:clrMapOvr>
</p:sld>
</file>

<file path=ppt/theme/theme1.xml><?xml version="1.0" encoding="utf-8"?>
<a:theme xmlns:a="http://schemas.openxmlformats.org/drawingml/2006/main" name="sho[ talk sample ppt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sho[ talk sample ppt</Template>
  <TotalTime>764</TotalTime>
  <Words>368</Words>
  <Application>Microsoft Office PowerPoint</Application>
  <PresentationFormat>Custom</PresentationFormat>
  <Paragraphs>87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Calibri</vt:lpstr>
      <vt:lpstr>Lato Bold</vt:lpstr>
      <vt:lpstr>Abadi</vt:lpstr>
      <vt:lpstr>Aptos</vt:lpstr>
      <vt:lpstr>Garamond</vt:lpstr>
      <vt:lpstr>Arial</vt:lpstr>
      <vt:lpstr>sho[ talk sample ppt</vt:lpstr>
      <vt:lpstr>PowerPoint Presentation</vt:lpstr>
      <vt:lpstr>INTRODUCTION</vt:lpstr>
      <vt:lpstr>FEASIBILITY STUDY</vt:lpstr>
      <vt:lpstr>EXSISTING SYSTEM AND DISADVANTAGES</vt:lpstr>
      <vt:lpstr>PROPOSED SYSTEM AND DISADVANTAGES</vt:lpstr>
      <vt:lpstr>SRS- SOFTWARE REQUIREMENT SPECIFICATION</vt:lpstr>
      <vt:lpstr>MODULES AND FUNCTIONALITIES</vt:lpstr>
      <vt:lpstr>DFD – DATAFLOW DIAGRAM</vt:lpstr>
      <vt:lpstr>DBD &amp; ERD</vt:lpstr>
      <vt:lpstr>Software/Hardware Requirements </vt:lpstr>
      <vt:lpstr>GANTT CHART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Jeeve M</dc:creator>
  <cp:lastModifiedBy>V RANJAN BABU</cp:lastModifiedBy>
  <cp:revision>94</cp:revision>
  <dcterms:created xsi:type="dcterms:W3CDTF">2025-11-22T00:20:05Z</dcterms:created>
  <dcterms:modified xsi:type="dcterms:W3CDTF">2026-04-24T16:44:07Z</dcterms:modified>
</cp:coreProperties>
</file>