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2" r:id="rId4"/>
    <p:sldId id="263" r:id="rId5"/>
    <p:sldId id="272" r:id="rId6"/>
    <p:sldId id="273" r:id="rId7"/>
    <p:sldId id="274" r:id="rId8"/>
    <p:sldId id="266" r:id="rId9"/>
    <p:sldId id="259" r:id="rId10"/>
    <p:sldId id="276" r:id="rId11"/>
    <p:sldId id="261" r:id="rId12"/>
    <p:sldId id="277" r:id="rId13"/>
    <p:sldId id="275" r:id="rId14"/>
    <p:sldId id="271" r:id="rId15"/>
  </p:sldIdLst>
  <p:sldSz cx="14630400" cy="8229600"/>
  <p:notesSz cx="8229600" cy="14630400"/>
  <p:embeddedFontLst>
    <p:embeddedFont>
      <p:font typeface="Abadi" panose="020B0604020104020204" pitchFamily="34" charset="0"/>
      <p:regular r:id="rId18"/>
      <p:bold r:id="rId19"/>
      <p:italic r:id="rId20"/>
      <p:boldItalic r:id="rId21"/>
    </p:embeddedFont>
    <p:embeddedFont>
      <p:font typeface="Garamond" panose="02020404030301010803" pitchFamily="18" charset="0"/>
      <p:regular r:id="rId22"/>
      <p:bold r:id="rId23"/>
      <p:italic r:id="rId24"/>
    </p:embeddedFont>
    <p:embeddedFont>
      <p:font typeface="Lato Bold" panose="020B0604020202020204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D2DEEF"/>
    <a:srgbClr val="EF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721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-11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BC209F-BD4C-6359-B964-E80525FD5F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rga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F795A-38A3-9B98-894F-9570CC580D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13CE3-D9A5-4051-8901-5CD2DD1DC6DE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B9BE0-1B30-CA57-D1AE-03B993A25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2A406-F6E8-0910-5EB2-C9E643C7F0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F01EF-C7EA-47FA-A004-6D97CAE59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9979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94828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346836"/>
            <a:ext cx="1243584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0B17-B3D0-4022-95D4-B9C033A3C720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0771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201D-14C3-4C38-B41B-8D6252F0F146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2099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9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9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1F29-1161-47C1-A61E-689E17E1CAE0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963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2292-377F-49B2-8470-7E3D28AF7566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3626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3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8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8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D415-5EB0-4A72-984A-5089030DE15C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9402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9BADF-6BB7-440D-A250-8DD22666F1C2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2842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B072C-AC10-4AF0-A92F-C561FACC9C58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495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3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B715-78BF-4287-A4F1-D3A5A65928D2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147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3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2772-5ADA-4761-A66E-053028810C34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797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0BCA-E093-423A-9BDB-416AA5FC6C30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1924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6BDD-EB0F-4675-B3D0-A20C14085CB3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4159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8ADBD-BDA6-46B4-936F-27AB96CEC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0720" y="7469506"/>
            <a:ext cx="2539478" cy="4247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fld id="{DAC5ACEC-7CDE-4B09-A26F-6C14684A3C80}" type="datetime4">
              <a:rPr lang="en-IN" sz="2160" smtClean="0">
                <a:solidFill>
                  <a:prstClr val="black"/>
                </a:solidFill>
              </a:rPr>
              <a:pPr eaLnBrk="1" hangingPunct="1">
                <a:defRPr/>
              </a:pPr>
              <a:t>05 June 2026</a:t>
            </a:fld>
            <a:endParaRPr lang="en-IN" sz="216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425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77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645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087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204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36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61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3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E87F-C9C4-4E66-8E56-0E2CC44C954B}" type="datetime5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5-Jun-26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3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3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10" y="8073386"/>
            <a:ext cx="14203679" cy="15621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468376" y="0"/>
            <a:ext cx="162025" cy="8229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" y="0"/>
            <a:ext cx="162024" cy="8229600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3913" y="3"/>
            <a:ext cx="14206488" cy="186690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sp>
        <p:nvSpPr>
          <p:cNvPr id="12" name="Pentagon 11"/>
          <p:cNvSpPr/>
          <p:nvPr/>
        </p:nvSpPr>
        <p:spPr>
          <a:xfrm rot="5400000">
            <a:off x="62866" y="-62865"/>
            <a:ext cx="438152" cy="56388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sp>
        <p:nvSpPr>
          <p:cNvPr id="13" name="Pentagon 12"/>
          <p:cNvSpPr/>
          <p:nvPr/>
        </p:nvSpPr>
        <p:spPr>
          <a:xfrm rot="16200000" flipV="1">
            <a:off x="14129384" y="7740016"/>
            <a:ext cx="438152" cy="563884"/>
          </a:xfrm>
          <a:prstGeom prst="homePlate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>
              <a:solidFill>
                <a:prstClr val="white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51394" y="1506137"/>
            <a:ext cx="132245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F:\F\abdesktop\Logo_NTTF_2019\NTTF Logo_png.png">
            <a:extLst>
              <a:ext uri="{FF2B5EF4-FFF2-40B4-BE49-F238E27FC236}">
                <a16:creationId xmlns:a16="http://schemas.microsoft.com/office/drawing/2014/main" id="{E4EB309A-98E3-9B48-B606-7F9D4FAE3B73}"/>
              </a:ext>
            </a:extLst>
          </p:cNvPr>
          <p:cNvPicPr/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502" y="284080"/>
            <a:ext cx="3421957" cy="10067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638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Tx/>
        <a:buBlip>
          <a:blip r:embed="rId21"/>
        </a:buBlip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Tx/>
        <a:buBlip>
          <a:blip r:embed="rId21"/>
        </a:buBlip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Tx/>
        <a:buBlip>
          <a:blip r:embed="rId21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Tx/>
        <a:buBlip>
          <a:blip r:embed="rId21"/>
        </a:buBlip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Tx/>
        <a:buBlip>
          <a:blip r:embed="rId21"/>
        </a:buBlip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99921" y="172454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u="sng" dirty="0">
                <a:latin typeface="Abadi" panose="020B0604020104020204" pitchFamily="34" charset="0"/>
              </a:rPr>
              <a:t>RAGSY-CODE TO VISUALIZER</a:t>
            </a:r>
          </a:p>
        </p:txBody>
      </p:sp>
      <p:sp>
        <p:nvSpPr>
          <p:cNvPr id="4" name="Text 1"/>
          <p:cNvSpPr/>
          <p:nvPr/>
        </p:nvSpPr>
        <p:spPr>
          <a:xfrm>
            <a:off x="3299922" y="2820233"/>
            <a:ext cx="7556421" cy="25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Presentation By :</a:t>
            </a:r>
          </a:p>
          <a:p>
            <a:pPr>
              <a:lnSpc>
                <a:spcPts val="2850"/>
              </a:lnSpc>
            </a:pPr>
            <a:endParaRPr lang="en-US" sz="2400" dirty="0">
              <a:solidFill>
                <a:srgbClr val="4A4A45"/>
              </a:solidFill>
              <a:latin typeface="Lato Bold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	RANJANBABU .V            :  NEC0823004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	YOGESH .S             	        :  NEC0823014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	SHWETHA .A                   :  NEC0823029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	GOUTHAM .S                   :  NEC0823105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4A4A45"/>
                </a:solidFill>
                <a:latin typeface="Lato Bold"/>
                <a:ea typeface="Lato" pitchFamily="34" charset="-122"/>
                <a:cs typeface="Lato" pitchFamily="34" charset="-120"/>
              </a:rPr>
              <a:t>	AKLIMA BEGUM SARA :  NEC0823115</a:t>
            </a:r>
          </a:p>
          <a:p>
            <a:pPr>
              <a:lnSpc>
                <a:spcPts val="2850"/>
              </a:lnSpc>
            </a:pPr>
            <a:endParaRPr lang="en-US" sz="2400" dirty="0">
              <a:solidFill>
                <a:srgbClr val="4A4A45"/>
              </a:solidFill>
              <a:latin typeface="Lato Bold"/>
              <a:ea typeface="Lato" pitchFamily="34" charset="-122"/>
              <a:cs typeface="Lato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4E740A5C-FA20-AF02-5109-8D226519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032933"/>
            <a:ext cx="12618720" cy="423334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INTRODUCTION</a:t>
            </a:r>
            <a:endParaRPr lang="en-IN" sz="3600" b="1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BB09B92-A0F5-5FE4-15E9-C3BBC4F08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750483"/>
            <a:ext cx="12618720" cy="52216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badi" panose="020B0604020104020204" pitchFamily="34" charset="0"/>
              </a:rPr>
              <a:t>The </a:t>
            </a:r>
            <a:r>
              <a:rPr lang="en-US" sz="3200" i="1" dirty="0">
                <a:latin typeface="Abadi" panose="020B0604020104020204" pitchFamily="34" charset="0"/>
              </a:rPr>
              <a:t>Code to Visualizer (</a:t>
            </a:r>
            <a:r>
              <a:rPr lang="en-US" sz="3200" i="1" dirty="0" err="1">
                <a:latin typeface="Abadi" panose="020B0604020104020204" pitchFamily="34" charset="0"/>
              </a:rPr>
              <a:t>Ragsy</a:t>
            </a:r>
            <a:r>
              <a:rPr lang="en-US" sz="3200" i="1" dirty="0">
                <a:latin typeface="Abadi" panose="020B0604020104020204" pitchFamily="34" charset="0"/>
              </a:rPr>
              <a:t>)</a:t>
            </a:r>
            <a:r>
              <a:rPr lang="en-US" sz="3200" dirty="0">
                <a:latin typeface="Abadi" panose="020B0604020104020204" pitchFamily="34" charset="0"/>
              </a:rPr>
              <a:t> is a web-based application that converts Programming language code into interactive flowcharts to simplify understanding of program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badi" panose="020B0604020104020204" pitchFamily="34" charset="0"/>
              </a:rPr>
              <a:t>It helps the users to visualize execution flow easily, making learning and debugging more 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badi" panose="020B0604020104020204" pitchFamily="34" charset="0"/>
              </a:rPr>
              <a:t>The system also includes secure authentication and activity tracking for a better user experience.</a:t>
            </a:r>
            <a:endParaRPr lang="en-IN" sz="32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C9F2BBDD-7D81-11C9-AA11-3356D97D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100667"/>
            <a:ext cx="12618720" cy="3556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FEASIBILITY STUDY</a:t>
            </a:r>
            <a:endParaRPr lang="en-IN" sz="3600" b="1" dirty="0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444CEF75-67F2-5704-9D1A-458C878F7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733550"/>
            <a:ext cx="12618720" cy="52216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Technical Feasibility</a:t>
            </a:r>
            <a:endParaRPr lang="en-US" u="sng" dirty="0"/>
          </a:p>
          <a:p>
            <a:r>
              <a:rPr lang="en-US" sz="2800" dirty="0"/>
              <a:t>Built using modern technologies (React, APIs, Flowchart libraries)</a:t>
            </a:r>
          </a:p>
          <a:p>
            <a:r>
              <a:rPr lang="en-US" sz="2800" dirty="0"/>
              <a:t>Easy to develop, maintain, and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u="sng" dirty="0"/>
              <a:t>Economic Feasibility</a:t>
            </a:r>
            <a:endParaRPr lang="en-US" dirty="0"/>
          </a:p>
          <a:p>
            <a:r>
              <a:rPr lang="en-US" sz="2800" dirty="0"/>
              <a:t>No need for expensive 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Operational Feasibility</a:t>
            </a:r>
            <a:endParaRPr lang="en-US" u="sng" dirty="0"/>
          </a:p>
          <a:p>
            <a:r>
              <a:rPr lang="en-US" sz="2800" dirty="0"/>
              <a:t>Simple and user-friendly interface</a:t>
            </a:r>
          </a:p>
          <a:p>
            <a:r>
              <a:rPr lang="en-US" sz="2800" dirty="0"/>
              <a:t>Requires minimal training for users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64908197-9111-1368-06A9-F6F07FB7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99067"/>
            <a:ext cx="12618720" cy="5080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EXSISTING SYSTEM AND DISADVANTAGES</a:t>
            </a:r>
            <a:endParaRPr lang="en-IN" sz="3600" b="1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2995C34-3A82-AE31-B470-C83E1D72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659467"/>
            <a:ext cx="12618720" cy="575288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Existing System:</a:t>
            </a:r>
          </a:p>
          <a:p>
            <a:r>
              <a:rPr lang="en-US" sz="2800" dirty="0"/>
              <a:t>Manual flowchart drawing</a:t>
            </a:r>
          </a:p>
          <a:p>
            <a:r>
              <a:rPr lang="en-US" sz="2800" dirty="0"/>
              <a:t>Static diagram tools</a:t>
            </a:r>
          </a:p>
          <a:p>
            <a:r>
              <a:rPr lang="en-US" sz="2800" dirty="0"/>
              <a:t>No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Disadvantages:</a:t>
            </a:r>
          </a:p>
          <a:p>
            <a:r>
              <a:rPr lang="en-US" sz="2800" dirty="0"/>
              <a:t>Time-consuming</a:t>
            </a:r>
          </a:p>
          <a:p>
            <a:r>
              <a:rPr lang="en-US" sz="2800" dirty="0"/>
              <a:t>Error </a:t>
            </a:r>
            <a:r>
              <a:rPr lang="en-US" sz="2800" dirty="0" err="1"/>
              <a:t>occurence</a:t>
            </a:r>
            <a:endParaRPr lang="en-US" sz="2800" dirty="0"/>
          </a:p>
          <a:p>
            <a:r>
              <a:rPr lang="en-US" sz="2800" dirty="0"/>
              <a:t>No real-time visualization</a:t>
            </a:r>
          </a:p>
          <a:p>
            <a:r>
              <a:rPr lang="en-US" sz="2800" dirty="0"/>
              <a:t>No integration with code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4F89-F5A5-8B14-B110-C7244A63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82133"/>
            <a:ext cx="12618720" cy="524934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PROPOSED SYSTEM AND DISADVANTAGES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EEB0F-ED04-0B2F-E302-41F9B68B8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665816"/>
            <a:ext cx="12618720" cy="5221606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b="1" u="sng" dirty="0"/>
              <a:t>Proposed System:</a:t>
            </a:r>
          </a:p>
          <a:p>
            <a:r>
              <a:rPr lang="en-IN" sz="3300" dirty="0"/>
              <a:t>Automatic </a:t>
            </a:r>
            <a:r>
              <a:rPr lang="en-IN" sz="3300" b="1" dirty="0"/>
              <a:t>code → flowchart conversion</a:t>
            </a:r>
            <a:endParaRPr lang="en-IN" sz="3300" dirty="0"/>
          </a:p>
          <a:p>
            <a:r>
              <a:rPr lang="en-IN" sz="3300" dirty="0"/>
              <a:t>Interactive visualization</a:t>
            </a:r>
          </a:p>
          <a:p>
            <a:r>
              <a:rPr lang="en-IN" sz="3300" dirty="0"/>
              <a:t>User authentication &amp; history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u="sng" dirty="0"/>
              <a:t>Advantages</a:t>
            </a:r>
            <a:r>
              <a:rPr lang="en-IN" b="1" dirty="0"/>
              <a:t>:</a:t>
            </a:r>
          </a:p>
          <a:p>
            <a:r>
              <a:rPr lang="en-IN" sz="3300" dirty="0"/>
              <a:t>Saves time</a:t>
            </a:r>
          </a:p>
          <a:p>
            <a:r>
              <a:rPr lang="en-IN" sz="3300" dirty="0"/>
              <a:t>Improves understanding</a:t>
            </a:r>
          </a:p>
          <a:p>
            <a:r>
              <a:rPr lang="en-IN" sz="3300" dirty="0"/>
              <a:t>Easy to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u="sng" dirty="0"/>
              <a:t>Disadvantages</a:t>
            </a:r>
            <a:r>
              <a:rPr lang="en-IN" b="1" dirty="0"/>
              <a:t>:</a:t>
            </a:r>
          </a:p>
          <a:p>
            <a:r>
              <a:rPr lang="en-IN" sz="3300" dirty="0"/>
              <a:t>Limited to specific languages (Python)</a:t>
            </a:r>
          </a:p>
          <a:p>
            <a:r>
              <a:rPr lang="en-IN" sz="3300" dirty="0"/>
              <a:t>Requires internet (API-based)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96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10C0-F42D-07C0-0D56-5FF390161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67" y="1117599"/>
            <a:ext cx="12930293" cy="389467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SRS- SOFTWARE REQUIREMENT SPECIFICATION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E5C68-07EA-4378-E6FE-7E71BA06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7" y="1665816"/>
            <a:ext cx="12618720" cy="5221606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Functional Requirements:</a:t>
            </a:r>
          </a:p>
          <a:p>
            <a:r>
              <a:rPr lang="en-US" dirty="0"/>
              <a:t>User registration &amp; login</a:t>
            </a:r>
          </a:p>
          <a:p>
            <a:r>
              <a:rPr lang="en-US" dirty="0"/>
              <a:t>OTP verification</a:t>
            </a:r>
          </a:p>
          <a:p>
            <a:r>
              <a:rPr lang="en-US" dirty="0"/>
              <a:t>Code input</a:t>
            </a:r>
          </a:p>
          <a:p>
            <a:r>
              <a:rPr lang="en-US" dirty="0"/>
              <a:t>Flowchart generation</a:t>
            </a:r>
          </a:p>
          <a:p>
            <a:r>
              <a:rPr lang="en-US" dirty="0"/>
              <a:t>Activity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Non-Functional Requirements:</a:t>
            </a:r>
          </a:p>
          <a:p>
            <a:r>
              <a:rPr lang="en-US" dirty="0"/>
              <a:t>Fast response time</a:t>
            </a:r>
          </a:p>
          <a:p>
            <a:r>
              <a:rPr lang="en-US" dirty="0"/>
              <a:t>Secure authentication</a:t>
            </a:r>
          </a:p>
          <a:p>
            <a:r>
              <a:rPr lang="en-US" dirty="0"/>
              <a:t>Scalable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80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48D4-AECB-5DE4-161B-0881E941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MODULES AND FUNCTIONALITIES</a:t>
            </a:r>
            <a:endParaRPr lang="en-IN" sz="36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6765E8-8550-6A6B-891E-3E54D6052B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310593"/>
              </p:ext>
            </p:extLst>
          </p:nvPr>
        </p:nvGraphicFramePr>
        <p:xfrm>
          <a:off x="1005840" y="1785257"/>
          <a:ext cx="12209418" cy="6006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67975">
                  <a:extLst>
                    <a:ext uri="{9D8B030D-6E8A-4147-A177-3AD203B41FA5}">
                      <a16:colId xmlns:a16="http://schemas.microsoft.com/office/drawing/2014/main" val="284706558"/>
                    </a:ext>
                  </a:extLst>
                </a:gridCol>
                <a:gridCol w="7841443">
                  <a:extLst>
                    <a:ext uri="{9D8B030D-6E8A-4147-A177-3AD203B41FA5}">
                      <a16:colId xmlns:a16="http://schemas.microsoft.com/office/drawing/2014/main" val="3480284550"/>
                    </a:ext>
                  </a:extLst>
                </a:gridCol>
              </a:tblGrid>
              <a:tr h="502638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Key Functionalities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492791415"/>
                  </a:ext>
                </a:extLst>
              </a:tr>
              <a:tr h="777753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Authentication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Register, login, logout, session management, forgot password (SMS OTP), admin detection, 24-hour session expiry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4165846730"/>
                  </a:ext>
                </a:extLst>
              </a:tr>
              <a:tr h="46089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Dashboard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Language selection (Python Basics / JavaScript Basics), user greeting, navigation to editor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3663595877"/>
                  </a:ext>
                </a:extLst>
              </a:tr>
              <a:tr h="46089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Code Editor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Code input text area, sample code loader, language indicator, run/generate triggers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3134410047"/>
                  </a:ext>
                </a:extLst>
              </a:tr>
              <a:tr h="777753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Flowchart Engine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AST parsing, node/edge JSON generation, Dagre layout, React Flow rendering, interactive drag/zoom, PNG export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1552204520"/>
                  </a:ext>
                </a:extLst>
              </a:tr>
              <a:tr h="777753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Execution Engine</a:t>
                      </a:r>
                      <a:endParaRPr lang="en-IN" sz="1000" kern="100" dirty="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Sandboxed Python subprocess, Node.js child process, input scanning modal, stdout /stderr capture, 5s timeout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3041190816"/>
                  </a:ext>
                </a:extLst>
              </a:tr>
              <a:tr h="46089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Explanation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AI-powered plain-English explanation of submitted code structure and logic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338603999"/>
                  </a:ext>
                </a:extLst>
              </a:tr>
              <a:tr h="46089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Recent Activity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Submission history display, code restore with correct language, activity log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2982340788"/>
                  </a:ext>
                </a:extLst>
              </a:tr>
              <a:tr h="777753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Admin Dashboard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User management (view/delete), submission monitoring, platform statistics, security status display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3802992458"/>
                  </a:ext>
                </a:extLst>
              </a:tr>
              <a:tr h="548978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Database Module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SQL CRUD operations, Fernet AES-256 encrypt/decrypt, session store, OTP management</a:t>
                      </a:r>
                      <a:endParaRPr lang="en-IN" sz="1000" kern="100" dirty="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50800" marB="50800"/>
                </a:tc>
                <a:extLst>
                  <a:ext uri="{0D108BD9-81ED-4DB2-BD59-A6C34878D82A}">
                    <a16:rowId xmlns:a16="http://schemas.microsoft.com/office/drawing/2014/main" val="41121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62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FF4B62-AB3A-4B8F-4FE5-87B79086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82133"/>
            <a:ext cx="12618720" cy="52493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badi" panose="020B0604020104020204" pitchFamily="34" charset="0"/>
              </a:rPr>
              <a:t>DFD – DATAFLOW DIAGRAM</a:t>
            </a:r>
            <a:endParaRPr lang="en-IN" sz="3600" b="1" dirty="0">
              <a:latin typeface="Abadi" panose="020B0604020104020204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01C5135-C618-8156-2A89-4D629912B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413" y="1939307"/>
            <a:ext cx="12619037" cy="475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6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CE076567-9A63-C466-D359-5D8BDA2A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</p:spPr>
        <p:txBody>
          <a:bodyPr anchor="ctr">
            <a:normAutofit/>
          </a:bodyPr>
          <a:lstStyle/>
          <a:p>
            <a:r>
              <a:rPr lang="en-US" b="1" dirty="0"/>
              <a:t> ER-DIAGRAM</a:t>
            </a:r>
            <a:br>
              <a:rPr lang="en-US" b="1" dirty="0"/>
            </a:b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5AEEE-F8D5-CF3A-4812-BBB67B978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53" y="1780226"/>
            <a:ext cx="13253707" cy="5605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2339-B9D5-B088-2FE4-0173491B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</p:spPr>
        <p:txBody>
          <a:bodyPr anchor="ctr">
            <a:normAutofit/>
          </a:bodyPr>
          <a:lstStyle/>
          <a:p>
            <a:r>
              <a:rPr lang="en-US" dirty="0"/>
              <a:t>DB-DIAGRAM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5F1427-3AED-1D39-4D43-D5F5C62A2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2190749"/>
            <a:ext cx="11826240" cy="56006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012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E40A0CD-CF65-4BC0-7683-6CD11763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</p:spPr>
        <p:txBody>
          <a:bodyPr anchor="ctr">
            <a:normAutofit/>
          </a:bodyPr>
          <a:lstStyle/>
          <a:p>
            <a:r>
              <a:rPr lang="en-US" b="1" dirty="0"/>
              <a:t>Software Specifications</a:t>
            </a:r>
            <a:br>
              <a:rPr lang="en-IN" b="1"/>
            </a:br>
            <a:endParaRPr lang="en-IN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AFCC12-704C-8A63-D453-CE91B04B0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4319" y="2190764"/>
            <a:ext cx="6217920" cy="5221606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1BBC9-09F7-BB27-276C-001B058D7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52081"/>
              </p:ext>
            </p:extLst>
          </p:nvPr>
        </p:nvGraphicFramePr>
        <p:xfrm>
          <a:off x="1005840" y="2028829"/>
          <a:ext cx="12618720" cy="5762625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4984196">
                  <a:extLst>
                    <a:ext uri="{9D8B030D-6E8A-4147-A177-3AD203B41FA5}">
                      <a16:colId xmlns:a16="http://schemas.microsoft.com/office/drawing/2014/main" val="3077271221"/>
                    </a:ext>
                  </a:extLst>
                </a:gridCol>
                <a:gridCol w="947141">
                  <a:extLst>
                    <a:ext uri="{9D8B030D-6E8A-4147-A177-3AD203B41FA5}">
                      <a16:colId xmlns:a16="http://schemas.microsoft.com/office/drawing/2014/main" val="613901148"/>
                    </a:ext>
                  </a:extLst>
                </a:gridCol>
                <a:gridCol w="6687383">
                  <a:extLst>
                    <a:ext uri="{9D8B030D-6E8A-4147-A177-3AD203B41FA5}">
                      <a16:colId xmlns:a16="http://schemas.microsoft.com/office/drawing/2014/main" val="2831498649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Category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Technology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23541139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Frontend Framework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React via Vite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380084532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Backend Framework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FastAPI (Python)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62419001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Database (Dev)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Microsoft SQL Server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299318787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Database (Prod)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PostgreSQL (Supabase)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312180921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JS Execution Runtime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Node.js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740609099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Flow Rendering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React Flow (@xyflow/react)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01419294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Graph Auto-Layout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Dagre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3194850426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PNG Export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html-to-image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80188605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SMS OTP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Fast2SMS Phone Auth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3182803072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Code Encryption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cryptography (Fernet/AES-256)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656096827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Password Hashing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hashlib SHA-256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299331522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Deployment (FE)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Vercel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1232920675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Deployment (BE)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Railway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2223080128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Version Control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tc>
                  <a:txBody>
                    <a:bodyPr/>
                    <a:lstStyle/>
                    <a:p>
                      <a:pPr marR="221615" algn="just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Git / GitHub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9718" marR="9718" marT="9718" marB="9718" anchor="ctr"/>
                </a:tc>
                <a:extLst>
                  <a:ext uri="{0D108BD9-81ED-4DB2-BD59-A6C34878D82A}">
                    <a16:rowId xmlns:a16="http://schemas.microsoft.com/office/drawing/2014/main" val="937057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BB94-0787-E268-E71C-639274FC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Specifications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954CDA-DFBD-FF70-3B68-171CC2BB6F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501807"/>
              </p:ext>
            </p:extLst>
          </p:nvPr>
        </p:nvGraphicFramePr>
        <p:xfrm>
          <a:off x="827314" y="2028829"/>
          <a:ext cx="12618722" cy="5395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55450">
                  <a:extLst>
                    <a:ext uri="{9D8B030D-6E8A-4147-A177-3AD203B41FA5}">
                      <a16:colId xmlns:a16="http://schemas.microsoft.com/office/drawing/2014/main" val="2912572900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3678530207"/>
                    </a:ext>
                  </a:extLst>
                </a:gridCol>
                <a:gridCol w="2606274">
                  <a:extLst>
                    <a:ext uri="{9D8B030D-6E8A-4147-A177-3AD203B41FA5}">
                      <a16:colId xmlns:a16="http://schemas.microsoft.com/office/drawing/2014/main" val="247026200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3136968981"/>
                    </a:ext>
                  </a:extLst>
                </a:gridCol>
                <a:gridCol w="5168098">
                  <a:extLst>
                    <a:ext uri="{9D8B030D-6E8A-4147-A177-3AD203B41FA5}">
                      <a16:colId xmlns:a16="http://schemas.microsoft.com/office/drawing/2014/main" val="1244947786"/>
                    </a:ext>
                  </a:extLst>
                </a:gridCol>
              </a:tblGrid>
              <a:tr h="1045206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Component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Minimum Requirements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Recommended Requirements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6863928"/>
                  </a:ext>
                </a:extLst>
              </a:tr>
              <a:tr h="1045206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Processor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:</a:t>
                      </a:r>
                      <a:endParaRPr lang="en-IN" sz="1000" kern="100" dirty="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Intel Core i3 / AMD Ryzen 3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Intel Core i5 / AMD Ryzen 5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8043177"/>
                  </a:ext>
                </a:extLst>
              </a:tr>
              <a:tr h="607203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RAM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4 GB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8 GB or above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0216333"/>
                  </a:ext>
                </a:extLst>
              </a:tr>
              <a:tr h="607203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Storage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256 GB HDD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512 GB SSD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6937550"/>
                  </a:ext>
                </a:extLst>
              </a:tr>
              <a:tr h="1045206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Network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Broadband 1 Mbps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Broadband 10 Mbps or higher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2864263"/>
                  </a:ext>
                </a:extLst>
              </a:tr>
              <a:tr h="1045206"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Display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1280 × 720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:</a:t>
                      </a:r>
                      <a:endParaRPr lang="en-IN" sz="1000" kern="10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07950" algn="l" latinLnBrk="1">
                        <a:lnSpc>
                          <a:spcPct val="115000"/>
                        </a:lnSpc>
                        <a:buNone/>
                      </a:pPr>
                      <a:r>
                        <a:rPr lang="en-IN" sz="1200" kern="100" dirty="0">
                          <a:effectLst/>
                        </a:rPr>
                        <a:t>1920 × 1080 or higher</a:t>
                      </a:r>
                      <a:endParaRPr lang="en-IN" sz="1000" kern="100" dirty="0">
                        <a:effectLst/>
                        <a:latin typeface="Batang" panose="02030600000101010101" pitchFamily="18" charset="-127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4659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80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FFD4-CCAA-C3F1-66CF-EE79B189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3"/>
            <a:ext cx="12618720" cy="1590676"/>
          </a:xfrm>
        </p:spPr>
        <p:txBody>
          <a:bodyPr anchor="ctr">
            <a:normAutofit/>
          </a:bodyPr>
          <a:lstStyle/>
          <a:p>
            <a:r>
              <a:rPr lang="en-US" b="1"/>
              <a:t>GANTT CHART</a:t>
            </a:r>
            <a:endParaRPr lang="en-IN" b="1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BE4962-5792-CCC1-8221-E978B3FD9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5" r="1" b="1438"/>
          <a:stretch>
            <a:fillRect/>
          </a:stretch>
        </p:blipFill>
        <p:spPr>
          <a:xfrm>
            <a:off x="1005840" y="2190750"/>
            <a:ext cx="12618720" cy="52216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838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CFF3-B6F1-B1EE-EFE1-38C886A7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032933"/>
            <a:ext cx="1261872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badi" panose="020B0604020104020204" pitchFamily="34" charset="0"/>
              </a:rPr>
              <a:t>CONCLUSION</a:t>
            </a:r>
            <a:endParaRPr lang="en-IN" sz="3600" b="1" dirty="0">
              <a:latin typeface="Abadi" panose="020B0604020104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4E655-1793-E15F-72B1-DD86FE2D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727200"/>
            <a:ext cx="12618720" cy="56851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Successfully developed a system to convert code into flowcharts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Improved code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Integrated authentication and activity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Can be extended for multiple programming languages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87854458"/>
      </p:ext>
    </p:extLst>
  </p:cSld>
  <p:clrMapOvr>
    <a:masterClrMapping/>
  </p:clrMapOvr>
</p:sld>
</file>

<file path=ppt/theme/theme1.xml><?xml version="1.0" encoding="utf-8"?>
<a:theme xmlns:a="http://schemas.openxmlformats.org/drawingml/2006/main" name="sho[ talk sample pp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sho[ talk sample ppt</Template>
  <TotalTime>783</TotalTime>
  <Words>618</Words>
  <Application>Microsoft Office PowerPoint</Application>
  <PresentationFormat>Custom</PresentationFormat>
  <Paragraphs>165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Garamond</vt:lpstr>
      <vt:lpstr>Calibri</vt:lpstr>
      <vt:lpstr>Abadi</vt:lpstr>
      <vt:lpstr>Lato Bold</vt:lpstr>
      <vt:lpstr>Batang</vt:lpstr>
      <vt:lpstr>sho[ talk sample ppt</vt:lpstr>
      <vt:lpstr>PowerPoint Presentation</vt:lpstr>
      <vt:lpstr>INTRODUCTION</vt:lpstr>
      <vt:lpstr>FEASIBILITY STUDY</vt:lpstr>
      <vt:lpstr>EXSISTING SYSTEM AND DISADVANTAGES</vt:lpstr>
      <vt:lpstr>PROPOSED SYSTEM AND DISADVANTAGES</vt:lpstr>
      <vt:lpstr>SRS- SOFTWARE REQUIREMENT SPECIFICATION</vt:lpstr>
      <vt:lpstr>MODULES AND FUNCTIONALITIES</vt:lpstr>
      <vt:lpstr>DFD – DATAFLOW DIAGRAM</vt:lpstr>
      <vt:lpstr> ER-DIAGRAM </vt:lpstr>
      <vt:lpstr>DB-DIAGRAM </vt:lpstr>
      <vt:lpstr>Software Specifications </vt:lpstr>
      <vt:lpstr>Hardware Specifications</vt:lpstr>
      <vt:lpstr>GANTT CHART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Jeeve M</dc:creator>
  <cp:lastModifiedBy>PHILIP INFANT P</cp:lastModifiedBy>
  <cp:revision>82</cp:revision>
  <dcterms:created xsi:type="dcterms:W3CDTF">2025-11-22T00:20:05Z</dcterms:created>
  <dcterms:modified xsi:type="dcterms:W3CDTF">2026-06-05T10:30:38Z</dcterms:modified>
</cp:coreProperties>
</file>